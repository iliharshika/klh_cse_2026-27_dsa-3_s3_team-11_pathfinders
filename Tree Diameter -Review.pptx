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the three team members and our guide Dr. J Sirisha Devi. The graphic on the right shows a sample tree with the diameter path highlighted in 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at a high level: what the system does, how DP avoids recomputation, and what it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precisely: input is an edge list, output is the diameter length plus a highlighted path, and the system must scale to 1000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functional modules. The DP-based diameter computation is the core of the project; the rest support input, validation and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handles the algorithm and tree structure; the browser stack renders the tree and highlights the diameter path. Git and GitHub are used for version control and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deliverable: a correct, visual and scalable tool that demonstrates tree-based dynamic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8412480" y="1853946"/>
            <a:ext cx="578358" cy="893826"/>
          </a:xfrm>
          <a:prstGeom prst="line">
            <a:avLst/>
          </a:prstGeom>
          <a:noFill/>
          <a:ln w="28575">
            <a:solidFill>
              <a:srgbClr val="3A2A5C"/>
            </a:solidFill>
            <a:prstDash val="solid"/>
          </a:ln>
        </p:spPr>
      </p:sp>
      <p:sp>
        <p:nvSpPr>
          <p:cNvPr id="3" name="Shape 1"/>
          <p:cNvSpPr/>
          <p:nvPr/>
        </p:nvSpPr>
        <p:spPr>
          <a:xfrm flipH="1">
            <a:off x="9989820" y="1853946"/>
            <a:ext cx="525780" cy="893826"/>
          </a:xfrm>
          <a:prstGeom prst="line">
            <a:avLst/>
          </a:prstGeom>
          <a:noFill/>
          <a:ln w="28575">
            <a:solidFill>
              <a:srgbClr val="3A2A5C"/>
            </a:solidFill>
            <a:prstDash val="solid"/>
          </a:ln>
        </p:spPr>
      </p:sp>
      <p:sp>
        <p:nvSpPr>
          <p:cNvPr id="4" name="Shape 2"/>
          <p:cNvSpPr/>
          <p:nvPr/>
        </p:nvSpPr>
        <p:spPr>
          <a:xfrm flipH="1">
            <a:off x="8412480" y="960120"/>
            <a:ext cx="1051560" cy="893826"/>
          </a:xfrm>
          <a:prstGeom prst="line">
            <a:avLst/>
          </a:prstGeom>
          <a:noFill/>
          <a:ln w="63500">
            <a:solidFill>
              <a:srgbClr val="CBEF4F"/>
            </a:solidFill>
            <a:prstDash val="solid"/>
          </a:ln>
        </p:spPr>
      </p:sp>
      <p:sp>
        <p:nvSpPr>
          <p:cNvPr id="5" name="Shape 3"/>
          <p:cNvSpPr/>
          <p:nvPr/>
        </p:nvSpPr>
        <p:spPr>
          <a:xfrm>
            <a:off x="9464040" y="960120"/>
            <a:ext cx="1051560" cy="893826"/>
          </a:xfrm>
          <a:prstGeom prst="line">
            <a:avLst/>
          </a:prstGeom>
          <a:noFill/>
          <a:ln w="63500">
            <a:solidFill>
              <a:srgbClr val="CBEF4F"/>
            </a:solidFill>
            <a:prstDash val="solid"/>
          </a:ln>
        </p:spPr>
      </p:sp>
      <p:sp>
        <p:nvSpPr>
          <p:cNvPr id="6" name="Shape 4"/>
          <p:cNvSpPr/>
          <p:nvPr/>
        </p:nvSpPr>
        <p:spPr>
          <a:xfrm flipH="1">
            <a:off x="7728966" y="1853946"/>
            <a:ext cx="683514" cy="893826"/>
          </a:xfrm>
          <a:prstGeom prst="line">
            <a:avLst/>
          </a:prstGeom>
          <a:noFill/>
          <a:ln w="63500">
            <a:solidFill>
              <a:srgbClr val="CBEF4F"/>
            </a:solidFill>
            <a:prstDash val="solid"/>
          </a:ln>
        </p:spPr>
      </p:sp>
      <p:sp>
        <p:nvSpPr>
          <p:cNvPr id="7" name="Shape 5"/>
          <p:cNvSpPr/>
          <p:nvPr/>
        </p:nvSpPr>
        <p:spPr>
          <a:xfrm>
            <a:off x="10515600" y="1853946"/>
            <a:ext cx="630936" cy="893826"/>
          </a:xfrm>
          <a:prstGeom prst="line">
            <a:avLst/>
          </a:prstGeom>
          <a:noFill/>
          <a:ln w="63500">
            <a:solidFill>
              <a:srgbClr val="CBEF4F"/>
            </a:solidFill>
            <a:prstDash val="solid"/>
          </a:ln>
        </p:spPr>
      </p:sp>
      <p:sp>
        <p:nvSpPr>
          <p:cNvPr id="8" name="Shape 6"/>
          <p:cNvSpPr/>
          <p:nvPr/>
        </p:nvSpPr>
        <p:spPr>
          <a:xfrm flipH="1">
            <a:off x="7360920" y="2747772"/>
            <a:ext cx="368046" cy="893826"/>
          </a:xfrm>
          <a:prstGeom prst="line">
            <a:avLst/>
          </a:prstGeom>
          <a:noFill/>
          <a:ln w="63500">
            <a:solidFill>
              <a:srgbClr val="CBEF4F"/>
            </a:solidFill>
            <a:prstDash val="solid"/>
          </a:ln>
        </p:spPr>
      </p:sp>
      <p:sp>
        <p:nvSpPr>
          <p:cNvPr id="9" name="Shape 7"/>
          <p:cNvSpPr/>
          <p:nvPr/>
        </p:nvSpPr>
        <p:spPr>
          <a:xfrm>
            <a:off x="11146536" y="2747772"/>
            <a:ext cx="473202" cy="893826"/>
          </a:xfrm>
          <a:prstGeom prst="line">
            <a:avLst/>
          </a:prstGeom>
          <a:noFill/>
          <a:ln w="63500">
            <a:solidFill>
              <a:srgbClr val="CBEF4F"/>
            </a:solidFill>
            <a:prstDash val="solid"/>
          </a:ln>
        </p:spPr>
      </p:sp>
      <p:sp>
        <p:nvSpPr>
          <p:cNvPr id="10" name="Shape 8"/>
          <p:cNvSpPr/>
          <p:nvPr/>
        </p:nvSpPr>
        <p:spPr>
          <a:xfrm>
            <a:off x="9259214" y="755294"/>
            <a:ext cx="409651" cy="409651"/>
          </a:xfrm>
          <a:prstGeom prst="ellipse">
            <a:avLst/>
          </a:prstGeom>
          <a:solidFill>
            <a:srgbClr val="CBEF4F"/>
          </a:solidFill>
          <a:ln w="12700">
            <a:solidFill>
              <a:srgbClr val="CBEF4F"/>
            </a:solidFill>
            <a:prstDash val="solid"/>
          </a:ln>
        </p:spPr>
      </p:sp>
      <p:sp>
        <p:nvSpPr>
          <p:cNvPr id="11" name="Text 9"/>
          <p:cNvSpPr/>
          <p:nvPr/>
        </p:nvSpPr>
        <p:spPr>
          <a:xfrm>
            <a:off x="9259214" y="755294"/>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0</a:t>
            </a:r>
            <a:endParaRPr lang="en-US" sz="1000" dirty="0"/>
          </a:p>
        </p:txBody>
      </p:sp>
      <p:sp>
        <p:nvSpPr>
          <p:cNvPr id="12" name="Shape 10"/>
          <p:cNvSpPr/>
          <p:nvPr/>
        </p:nvSpPr>
        <p:spPr>
          <a:xfrm>
            <a:off x="8207654" y="1649120"/>
            <a:ext cx="409651" cy="409651"/>
          </a:xfrm>
          <a:prstGeom prst="ellipse">
            <a:avLst/>
          </a:prstGeom>
          <a:solidFill>
            <a:srgbClr val="CBEF4F"/>
          </a:solidFill>
          <a:ln w="12700">
            <a:solidFill>
              <a:srgbClr val="CBEF4F"/>
            </a:solidFill>
            <a:prstDash val="solid"/>
          </a:ln>
        </p:spPr>
      </p:sp>
      <p:sp>
        <p:nvSpPr>
          <p:cNvPr id="13" name="Text 11"/>
          <p:cNvSpPr/>
          <p:nvPr/>
        </p:nvSpPr>
        <p:spPr>
          <a:xfrm>
            <a:off x="8207654" y="1649120"/>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1</a:t>
            </a:r>
            <a:endParaRPr lang="en-US" sz="1000" dirty="0"/>
          </a:p>
        </p:txBody>
      </p:sp>
      <p:sp>
        <p:nvSpPr>
          <p:cNvPr id="14" name="Shape 12"/>
          <p:cNvSpPr/>
          <p:nvPr/>
        </p:nvSpPr>
        <p:spPr>
          <a:xfrm>
            <a:off x="10310774" y="1649120"/>
            <a:ext cx="409651" cy="409651"/>
          </a:xfrm>
          <a:prstGeom prst="ellipse">
            <a:avLst/>
          </a:prstGeom>
          <a:solidFill>
            <a:srgbClr val="CBEF4F"/>
          </a:solidFill>
          <a:ln w="12700">
            <a:solidFill>
              <a:srgbClr val="CBEF4F"/>
            </a:solidFill>
            <a:prstDash val="solid"/>
          </a:ln>
        </p:spPr>
      </p:sp>
      <p:sp>
        <p:nvSpPr>
          <p:cNvPr id="15" name="Text 13"/>
          <p:cNvSpPr/>
          <p:nvPr/>
        </p:nvSpPr>
        <p:spPr>
          <a:xfrm>
            <a:off x="10310774" y="1649120"/>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7524140" y="2542946"/>
            <a:ext cx="409651" cy="409651"/>
          </a:xfrm>
          <a:prstGeom prst="ellipse">
            <a:avLst/>
          </a:prstGeom>
          <a:solidFill>
            <a:srgbClr val="CBEF4F"/>
          </a:solidFill>
          <a:ln w="12700">
            <a:solidFill>
              <a:srgbClr val="CBEF4F"/>
            </a:solidFill>
            <a:prstDash val="solid"/>
          </a:ln>
        </p:spPr>
      </p:sp>
      <p:sp>
        <p:nvSpPr>
          <p:cNvPr id="17" name="Text 15"/>
          <p:cNvSpPr/>
          <p:nvPr/>
        </p:nvSpPr>
        <p:spPr>
          <a:xfrm>
            <a:off x="7524140" y="2542946"/>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3</a:t>
            </a:r>
            <a:endParaRPr lang="en-US" sz="1000" dirty="0"/>
          </a:p>
        </p:txBody>
      </p:sp>
      <p:sp>
        <p:nvSpPr>
          <p:cNvPr id="18" name="Shape 16"/>
          <p:cNvSpPr/>
          <p:nvPr/>
        </p:nvSpPr>
        <p:spPr>
          <a:xfrm>
            <a:off x="8807958" y="2564892"/>
            <a:ext cx="365760" cy="365760"/>
          </a:xfrm>
          <a:prstGeom prst="ellipse">
            <a:avLst/>
          </a:prstGeom>
          <a:solidFill>
            <a:srgbClr val="41306B"/>
          </a:solidFill>
          <a:ln w="12700">
            <a:solidFill>
              <a:srgbClr val="41306B"/>
            </a:solidFill>
            <a:prstDash val="solid"/>
          </a:ln>
        </p:spPr>
      </p:sp>
      <p:sp>
        <p:nvSpPr>
          <p:cNvPr id="19" name="Text 17"/>
          <p:cNvSpPr/>
          <p:nvPr/>
        </p:nvSpPr>
        <p:spPr>
          <a:xfrm>
            <a:off x="8807958" y="2564892"/>
            <a:ext cx="365760" cy="365760"/>
          </a:xfrm>
          <a:prstGeom prst="rect">
            <a:avLst/>
          </a:prstGeom>
          <a:noFill/>
          <a:ln/>
        </p:spPr>
        <p:txBody>
          <a:bodyPr wrap="square" lIns="0" tIns="0" rIns="0" bIns="0" rtlCol="0" anchor="ctr"/>
          <a:lstStyle/>
          <a:p>
            <a:pPr algn="ctr" indent="0" marL="0">
              <a:buNone/>
            </a:pPr>
            <a:r>
              <a:rPr lang="en-US" sz="1000" b="1" dirty="0">
                <a:solidFill>
                  <a:srgbClr val="BFAEE0"/>
                </a:solidFill>
                <a:latin typeface="Calibri" pitchFamily="34" charset="0"/>
                <a:ea typeface="Calibri" pitchFamily="34" charset="-122"/>
                <a:cs typeface="Calibri" pitchFamily="34" charset="-120"/>
              </a:rPr>
              <a:t>4</a:t>
            </a:r>
            <a:endParaRPr lang="en-US" sz="1000" dirty="0"/>
          </a:p>
        </p:txBody>
      </p:sp>
      <p:sp>
        <p:nvSpPr>
          <p:cNvPr id="20" name="Shape 18"/>
          <p:cNvSpPr/>
          <p:nvPr/>
        </p:nvSpPr>
        <p:spPr>
          <a:xfrm>
            <a:off x="10941710" y="2542946"/>
            <a:ext cx="409651" cy="409651"/>
          </a:xfrm>
          <a:prstGeom prst="ellipse">
            <a:avLst/>
          </a:prstGeom>
          <a:solidFill>
            <a:srgbClr val="CBEF4F"/>
          </a:solidFill>
          <a:ln w="12700">
            <a:solidFill>
              <a:srgbClr val="CBEF4F"/>
            </a:solidFill>
            <a:prstDash val="solid"/>
          </a:ln>
        </p:spPr>
      </p:sp>
      <p:sp>
        <p:nvSpPr>
          <p:cNvPr id="21" name="Text 19"/>
          <p:cNvSpPr/>
          <p:nvPr/>
        </p:nvSpPr>
        <p:spPr>
          <a:xfrm>
            <a:off x="10941710" y="2542946"/>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5</a:t>
            </a:r>
            <a:endParaRPr lang="en-US" sz="1000" dirty="0"/>
          </a:p>
        </p:txBody>
      </p:sp>
      <p:sp>
        <p:nvSpPr>
          <p:cNvPr id="22" name="Shape 20"/>
          <p:cNvSpPr/>
          <p:nvPr/>
        </p:nvSpPr>
        <p:spPr>
          <a:xfrm>
            <a:off x="7156094" y="3436772"/>
            <a:ext cx="409651" cy="409651"/>
          </a:xfrm>
          <a:prstGeom prst="ellipse">
            <a:avLst/>
          </a:prstGeom>
          <a:solidFill>
            <a:srgbClr val="CBEF4F"/>
          </a:solidFill>
          <a:ln w="12700">
            <a:solidFill>
              <a:srgbClr val="CBEF4F"/>
            </a:solidFill>
            <a:prstDash val="solid"/>
          </a:ln>
        </p:spPr>
      </p:sp>
      <p:sp>
        <p:nvSpPr>
          <p:cNvPr id="23" name="Text 21"/>
          <p:cNvSpPr/>
          <p:nvPr/>
        </p:nvSpPr>
        <p:spPr>
          <a:xfrm>
            <a:off x="7156094" y="3436772"/>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6</a:t>
            </a:r>
            <a:endParaRPr lang="en-US" sz="1000" dirty="0"/>
          </a:p>
        </p:txBody>
      </p:sp>
      <p:sp>
        <p:nvSpPr>
          <p:cNvPr id="24" name="Shape 22"/>
          <p:cNvSpPr/>
          <p:nvPr/>
        </p:nvSpPr>
        <p:spPr>
          <a:xfrm>
            <a:off x="11414912" y="3436772"/>
            <a:ext cx="409651" cy="409651"/>
          </a:xfrm>
          <a:prstGeom prst="ellipse">
            <a:avLst/>
          </a:prstGeom>
          <a:solidFill>
            <a:srgbClr val="CBEF4F"/>
          </a:solidFill>
          <a:ln w="12700">
            <a:solidFill>
              <a:srgbClr val="CBEF4F"/>
            </a:solidFill>
            <a:prstDash val="solid"/>
          </a:ln>
        </p:spPr>
      </p:sp>
      <p:sp>
        <p:nvSpPr>
          <p:cNvPr id="25" name="Text 23"/>
          <p:cNvSpPr/>
          <p:nvPr/>
        </p:nvSpPr>
        <p:spPr>
          <a:xfrm>
            <a:off x="11414912" y="3436772"/>
            <a:ext cx="409651" cy="409651"/>
          </a:xfrm>
          <a:prstGeom prst="rect">
            <a:avLst/>
          </a:prstGeom>
          <a:noFill/>
          <a:ln/>
        </p:spPr>
        <p:txBody>
          <a:bodyPr wrap="square" lIns="0" tIns="0" rIns="0" bIns="0" rtlCol="0" anchor="ctr"/>
          <a:lstStyle/>
          <a:p>
            <a:pPr algn="ctr" indent="0" marL="0">
              <a:buNone/>
            </a:pPr>
            <a:r>
              <a:rPr lang="en-US" sz="1000" b="1" dirty="0">
                <a:solidFill>
                  <a:srgbClr val="1C1030"/>
                </a:solidFill>
                <a:latin typeface="Calibri" pitchFamily="34" charset="0"/>
                <a:ea typeface="Calibri" pitchFamily="34" charset="-122"/>
                <a:cs typeface="Calibri" pitchFamily="34" charset="-120"/>
              </a:rPr>
              <a:t>7</a:t>
            </a:r>
            <a:endParaRPr lang="en-US" sz="1000" dirty="0"/>
          </a:p>
        </p:txBody>
      </p:sp>
      <p:sp>
        <p:nvSpPr>
          <p:cNvPr id="26" name="Shape 24"/>
          <p:cNvSpPr/>
          <p:nvPr/>
        </p:nvSpPr>
        <p:spPr>
          <a:xfrm>
            <a:off x="9806940" y="2564892"/>
            <a:ext cx="365760" cy="365760"/>
          </a:xfrm>
          <a:prstGeom prst="ellipse">
            <a:avLst/>
          </a:prstGeom>
          <a:solidFill>
            <a:srgbClr val="41306B"/>
          </a:solidFill>
          <a:ln w="12700">
            <a:solidFill>
              <a:srgbClr val="41306B"/>
            </a:solidFill>
            <a:prstDash val="solid"/>
          </a:ln>
        </p:spPr>
      </p:sp>
      <p:sp>
        <p:nvSpPr>
          <p:cNvPr id="27" name="Text 25"/>
          <p:cNvSpPr/>
          <p:nvPr/>
        </p:nvSpPr>
        <p:spPr>
          <a:xfrm>
            <a:off x="9806940" y="2564892"/>
            <a:ext cx="365760" cy="365760"/>
          </a:xfrm>
          <a:prstGeom prst="rect">
            <a:avLst/>
          </a:prstGeom>
          <a:noFill/>
          <a:ln/>
        </p:spPr>
        <p:txBody>
          <a:bodyPr wrap="square" lIns="0" tIns="0" rIns="0" bIns="0" rtlCol="0" anchor="ctr"/>
          <a:lstStyle/>
          <a:p>
            <a:pPr algn="ctr" indent="0" marL="0">
              <a:buNone/>
            </a:pPr>
            <a:r>
              <a:rPr lang="en-US" sz="1000" b="1" dirty="0">
                <a:solidFill>
                  <a:srgbClr val="BFAEE0"/>
                </a:solidFill>
                <a:latin typeface="Calibri" pitchFamily="34" charset="0"/>
                <a:ea typeface="Calibri" pitchFamily="34" charset="-122"/>
                <a:cs typeface="Calibri" pitchFamily="34" charset="-120"/>
              </a:rPr>
              <a:t>8</a:t>
            </a:r>
            <a:endParaRPr lang="en-US" sz="1000" dirty="0"/>
          </a:p>
        </p:txBody>
      </p:sp>
      <p:sp>
        <p:nvSpPr>
          <p:cNvPr id="28" name="Text 26"/>
          <p:cNvSpPr/>
          <p:nvPr/>
        </p:nvSpPr>
        <p:spPr>
          <a:xfrm>
            <a:off x="777240" y="868680"/>
            <a:ext cx="6583680" cy="274320"/>
          </a:xfrm>
          <a:prstGeom prst="rect">
            <a:avLst/>
          </a:prstGeom>
          <a:noFill/>
          <a:ln/>
        </p:spPr>
        <p:txBody>
          <a:bodyPr wrap="square" lIns="0" tIns="0" rIns="0" bIns="0" rtlCol="0" anchor="ctr"/>
          <a:lstStyle/>
          <a:p>
            <a:pPr indent="0" marL="0">
              <a:buNone/>
            </a:pPr>
            <a:r>
              <a:rPr lang="en-US" sz="1200" b="1" spc="260" kern="0" dirty="0">
                <a:solidFill>
                  <a:srgbClr val="C7B4F0"/>
                </a:solidFill>
                <a:latin typeface="Calibri" pitchFamily="34" charset="0"/>
                <a:ea typeface="Calibri" pitchFamily="34" charset="-122"/>
                <a:cs typeface="Calibri" pitchFamily="34" charset="-120"/>
              </a:rPr>
              <a:t>PROBLEM STATEMENT REVIEW  ·  20 AUGUST</a:t>
            </a:r>
            <a:endParaRPr lang="en-US" sz="1200" dirty="0"/>
          </a:p>
        </p:txBody>
      </p:sp>
      <p:sp>
        <p:nvSpPr>
          <p:cNvPr id="29" name="Text 27"/>
          <p:cNvSpPr/>
          <p:nvPr/>
        </p:nvSpPr>
        <p:spPr>
          <a:xfrm>
            <a:off x="777240" y="1243584"/>
            <a:ext cx="6400800" cy="16002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Tree Diameter Computation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&amp; Visualization System</a:t>
            </a:r>
            <a:endParaRPr lang="en-US" sz="4000" dirty="0"/>
          </a:p>
        </p:txBody>
      </p:sp>
      <p:sp>
        <p:nvSpPr>
          <p:cNvPr id="30" name="Text 28"/>
          <p:cNvSpPr/>
          <p:nvPr/>
        </p:nvSpPr>
        <p:spPr>
          <a:xfrm>
            <a:off x="777240" y="2907792"/>
            <a:ext cx="5943600" cy="685800"/>
          </a:xfrm>
          <a:prstGeom prst="rect">
            <a:avLst/>
          </a:prstGeom>
          <a:noFill/>
          <a:ln/>
        </p:spPr>
        <p:txBody>
          <a:bodyPr wrap="square" lIns="0" tIns="0" rIns="0" bIns="0" rtlCol="0" anchor="ctr"/>
          <a:lstStyle/>
          <a:p>
            <a:pPr indent="0" marL="0">
              <a:lnSpc>
                <a:spcPts val="2400"/>
              </a:lnSpc>
              <a:buNone/>
            </a:pPr>
            <a:r>
              <a:rPr lang="en-US" sz="1500" i="1" dirty="0">
                <a:solidFill>
                  <a:srgbClr val="C3B5DD"/>
                </a:solidFill>
                <a:latin typeface="Calibri" pitchFamily="34" charset="0"/>
                <a:ea typeface="Calibri" pitchFamily="34" charset="-122"/>
                <a:cs typeface="Calibri" pitchFamily="34" charset="-120"/>
              </a:rPr>
              <a:t>Finding the longest path between any two nodes of a tree using dynamic programming.</a:t>
            </a:r>
            <a:endParaRPr lang="en-US" sz="1500" dirty="0"/>
          </a:p>
        </p:txBody>
      </p:sp>
      <p:sp>
        <p:nvSpPr>
          <p:cNvPr id="31" name="Text 29"/>
          <p:cNvSpPr/>
          <p:nvPr/>
        </p:nvSpPr>
        <p:spPr>
          <a:xfrm>
            <a:off x="777240" y="3913632"/>
            <a:ext cx="3657600" cy="228600"/>
          </a:xfrm>
          <a:prstGeom prst="rect">
            <a:avLst/>
          </a:prstGeom>
          <a:noFill/>
          <a:ln/>
        </p:spPr>
        <p:txBody>
          <a:bodyPr wrap="square" lIns="0" tIns="0" rIns="0" bIns="0" rtlCol="0" anchor="ctr"/>
          <a:lstStyle/>
          <a:p>
            <a:pPr indent="0" marL="0">
              <a:buNone/>
            </a:pPr>
            <a:r>
              <a:rPr lang="en-US" sz="1050" b="1" spc="220" kern="0" dirty="0">
                <a:solidFill>
                  <a:srgbClr val="CBEF4F"/>
                </a:solidFill>
                <a:latin typeface="Calibri" pitchFamily="34" charset="0"/>
                <a:ea typeface="Calibri" pitchFamily="34" charset="-122"/>
                <a:cs typeface="Calibri" pitchFamily="34" charset="-120"/>
              </a:rPr>
              <a:t>TEAM MEMBERS</a:t>
            </a:r>
            <a:endParaRPr lang="en-US" sz="1050" dirty="0"/>
          </a:p>
        </p:txBody>
      </p:sp>
      <p:sp>
        <p:nvSpPr>
          <p:cNvPr id="32" name="Shape 30"/>
          <p:cNvSpPr/>
          <p:nvPr/>
        </p:nvSpPr>
        <p:spPr>
          <a:xfrm>
            <a:off x="777240" y="4224528"/>
            <a:ext cx="1993392" cy="786384"/>
          </a:xfrm>
          <a:prstGeom prst="roundRect">
            <a:avLst>
              <a:gd name="adj" fmla="val 11628"/>
            </a:avLst>
          </a:prstGeom>
          <a:solidFill>
            <a:srgbClr val="2A1B4A"/>
          </a:solidFill>
          <a:ln w="12700">
            <a:solidFill>
              <a:srgbClr val="3F2C68"/>
            </a:solidFill>
            <a:prstDash val="solid"/>
          </a:ln>
        </p:spPr>
      </p:sp>
      <p:sp>
        <p:nvSpPr>
          <p:cNvPr id="33" name="Text 31"/>
          <p:cNvSpPr/>
          <p:nvPr/>
        </p:nvSpPr>
        <p:spPr>
          <a:xfrm>
            <a:off x="941832" y="4315968"/>
            <a:ext cx="16916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Pranitha M.</a:t>
            </a:r>
            <a:endParaRPr lang="en-US" sz="1350" dirty="0"/>
          </a:p>
        </p:txBody>
      </p:sp>
      <p:sp>
        <p:nvSpPr>
          <p:cNvPr id="34" name="Text 32"/>
          <p:cNvSpPr/>
          <p:nvPr/>
        </p:nvSpPr>
        <p:spPr>
          <a:xfrm>
            <a:off x="941832" y="4599432"/>
            <a:ext cx="1691640" cy="256032"/>
          </a:xfrm>
          <a:prstGeom prst="rect">
            <a:avLst/>
          </a:prstGeom>
          <a:noFill/>
          <a:ln/>
        </p:spPr>
        <p:txBody>
          <a:bodyPr wrap="square" lIns="0" tIns="0" rIns="0" bIns="0" rtlCol="0" anchor="ctr"/>
          <a:lstStyle/>
          <a:p>
            <a:pPr indent="0" marL="0">
              <a:buNone/>
            </a:pPr>
            <a:r>
              <a:rPr lang="en-US" sz="1100" dirty="0">
                <a:solidFill>
                  <a:srgbClr val="C7B4F0"/>
                </a:solidFill>
                <a:latin typeface="Calibri" pitchFamily="34" charset="0"/>
                <a:ea typeface="Calibri" pitchFamily="34" charset="-122"/>
                <a:cs typeface="Calibri" pitchFamily="34" charset="-120"/>
              </a:rPr>
              <a:t>2520030051</a:t>
            </a:r>
            <a:endParaRPr lang="en-US" sz="1100" dirty="0"/>
          </a:p>
        </p:txBody>
      </p:sp>
      <p:sp>
        <p:nvSpPr>
          <p:cNvPr id="35" name="Shape 33"/>
          <p:cNvSpPr/>
          <p:nvPr/>
        </p:nvSpPr>
        <p:spPr>
          <a:xfrm>
            <a:off x="2990088" y="4224528"/>
            <a:ext cx="1993392" cy="786384"/>
          </a:xfrm>
          <a:prstGeom prst="roundRect">
            <a:avLst>
              <a:gd name="adj" fmla="val 11628"/>
            </a:avLst>
          </a:prstGeom>
          <a:solidFill>
            <a:srgbClr val="2A1B4A"/>
          </a:solidFill>
          <a:ln w="12700">
            <a:solidFill>
              <a:srgbClr val="3F2C68"/>
            </a:solidFill>
            <a:prstDash val="solid"/>
          </a:ln>
        </p:spPr>
      </p:sp>
      <p:sp>
        <p:nvSpPr>
          <p:cNvPr id="36" name="Text 34"/>
          <p:cNvSpPr/>
          <p:nvPr/>
        </p:nvSpPr>
        <p:spPr>
          <a:xfrm>
            <a:off x="3154680" y="4315968"/>
            <a:ext cx="16916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Angela</a:t>
            </a:r>
            <a:endParaRPr lang="en-US" sz="1350" dirty="0"/>
          </a:p>
        </p:txBody>
      </p:sp>
      <p:sp>
        <p:nvSpPr>
          <p:cNvPr id="37" name="Text 35"/>
          <p:cNvSpPr/>
          <p:nvPr/>
        </p:nvSpPr>
        <p:spPr>
          <a:xfrm>
            <a:off x="3154680" y="4599432"/>
            <a:ext cx="1691640" cy="256032"/>
          </a:xfrm>
          <a:prstGeom prst="rect">
            <a:avLst/>
          </a:prstGeom>
          <a:noFill/>
          <a:ln/>
        </p:spPr>
        <p:txBody>
          <a:bodyPr wrap="square" lIns="0" tIns="0" rIns="0" bIns="0" rtlCol="0" anchor="ctr"/>
          <a:lstStyle/>
          <a:p>
            <a:pPr indent="0" marL="0">
              <a:buNone/>
            </a:pPr>
            <a:r>
              <a:rPr lang="en-US" sz="1100" dirty="0">
                <a:solidFill>
                  <a:srgbClr val="C7B4F0"/>
                </a:solidFill>
                <a:latin typeface="Calibri" pitchFamily="34" charset="0"/>
                <a:ea typeface="Calibri" pitchFamily="34" charset="-122"/>
                <a:cs typeface="Calibri" pitchFamily="34" charset="-120"/>
              </a:rPr>
              <a:t>2520030365</a:t>
            </a:r>
            <a:endParaRPr lang="en-US" sz="1100" dirty="0"/>
          </a:p>
        </p:txBody>
      </p:sp>
      <p:sp>
        <p:nvSpPr>
          <p:cNvPr id="38" name="Shape 36"/>
          <p:cNvSpPr/>
          <p:nvPr/>
        </p:nvSpPr>
        <p:spPr>
          <a:xfrm>
            <a:off x="5202936" y="4224528"/>
            <a:ext cx="1993392" cy="786384"/>
          </a:xfrm>
          <a:prstGeom prst="roundRect">
            <a:avLst>
              <a:gd name="adj" fmla="val 11628"/>
            </a:avLst>
          </a:prstGeom>
          <a:solidFill>
            <a:srgbClr val="2A1B4A"/>
          </a:solidFill>
          <a:ln w="12700">
            <a:solidFill>
              <a:srgbClr val="3F2C68"/>
            </a:solidFill>
            <a:prstDash val="solid"/>
          </a:ln>
        </p:spPr>
      </p:sp>
      <p:sp>
        <p:nvSpPr>
          <p:cNvPr id="39" name="Text 37"/>
          <p:cNvSpPr/>
          <p:nvPr/>
        </p:nvSpPr>
        <p:spPr>
          <a:xfrm>
            <a:off x="5367528" y="4315968"/>
            <a:ext cx="16916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Harshika</a:t>
            </a:r>
            <a:endParaRPr lang="en-US" sz="1350" dirty="0"/>
          </a:p>
        </p:txBody>
      </p:sp>
      <p:sp>
        <p:nvSpPr>
          <p:cNvPr id="40" name="Text 38"/>
          <p:cNvSpPr/>
          <p:nvPr/>
        </p:nvSpPr>
        <p:spPr>
          <a:xfrm>
            <a:off x="5367528" y="4599432"/>
            <a:ext cx="1691640" cy="256032"/>
          </a:xfrm>
          <a:prstGeom prst="rect">
            <a:avLst/>
          </a:prstGeom>
          <a:noFill/>
          <a:ln/>
        </p:spPr>
        <p:txBody>
          <a:bodyPr wrap="square" lIns="0" tIns="0" rIns="0" bIns="0" rtlCol="0" anchor="ctr"/>
          <a:lstStyle/>
          <a:p>
            <a:pPr indent="0" marL="0">
              <a:buNone/>
            </a:pPr>
            <a:r>
              <a:rPr lang="en-US" sz="1100" dirty="0">
                <a:solidFill>
                  <a:srgbClr val="C7B4F0"/>
                </a:solidFill>
                <a:latin typeface="Calibri" pitchFamily="34" charset="0"/>
                <a:ea typeface="Calibri" pitchFamily="34" charset="-122"/>
                <a:cs typeface="Calibri" pitchFamily="34" charset="-120"/>
              </a:rPr>
              <a:t>2520030607</a:t>
            </a:r>
            <a:endParaRPr lang="en-US" sz="1100" dirty="0"/>
          </a:p>
        </p:txBody>
      </p:sp>
      <p:sp>
        <p:nvSpPr>
          <p:cNvPr id="41" name="Shape 39"/>
          <p:cNvSpPr/>
          <p:nvPr/>
        </p:nvSpPr>
        <p:spPr>
          <a:xfrm>
            <a:off x="777240" y="5321808"/>
            <a:ext cx="4663440" cy="713232"/>
          </a:xfrm>
          <a:prstGeom prst="roundRect">
            <a:avLst>
              <a:gd name="adj" fmla="val 12821"/>
            </a:avLst>
          </a:prstGeom>
          <a:solidFill>
            <a:srgbClr val="2A1B4A"/>
          </a:solidFill>
          <a:ln w="12700">
            <a:solidFill>
              <a:srgbClr val="3F2C68"/>
            </a:solidFill>
            <a:prstDash val="solid"/>
          </a:ln>
        </p:spPr>
      </p:sp>
      <p:sp>
        <p:nvSpPr>
          <p:cNvPr id="42" name="Shape 40"/>
          <p:cNvSpPr/>
          <p:nvPr/>
        </p:nvSpPr>
        <p:spPr>
          <a:xfrm>
            <a:off x="1271016" y="5568696"/>
            <a:ext cx="210312" cy="210312"/>
          </a:xfrm>
          <a:prstGeom prst="line">
            <a:avLst/>
          </a:prstGeom>
          <a:noFill/>
          <a:ln w="25400">
            <a:solidFill>
              <a:srgbClr val="6B54A0"/>
            </a:solidFill>
            <a:prstDash val="solid"/>
          </a:ln>
        </p:spPr>
      </p:sp>
      <p:sp>
        <p:nvSpPr>
          <p:cNvPr id="43" name="Shape 41"/>
          <p:cNvSpPr/>
          <p:nvPr/>
        </p:nvSpPr>
        <p:spPr>
          <a:xfrm flipH="1">
            <a:off x="1060704" y="5568696"/>
            <a:ext cx="210312" cy="210312"/>
          </a:xfrm>
          <a:prstGeom prst="line">
            <a:avLst/>
          </a:prstGeom>
          <a:noFill/>
          <a:ln w="25400">
            <a:solidFill>
              <a:srgbClr val="6B54A0"/>
            </a:solidFill>
            <a:prstDash val="solid"/>
          </a:ln>
        </p:spPr>
      </p:sp>
      <p:sp>
        <p:nvSpPr>
          <p:cNvPr id="44" name="Shape 42"/>
          <p:cNvSpPr/>
          <p:nvPr/>
        </p:nvSpPr>
        <p:spPr>
          <a:xfrm>
            <a:off x="1188720" y="5486400"/>
            <a:ext cx="164592" cy="164592"/>
          </a:xfrm>
          <a:prstGeom prst="ellipse">
            <a:avLst/>
          </a:prstGeom>
          <a:solidFill>
            <a:srgbClr val="CBEF4F"/>
          </a:solidFill>
          <a:ln w="12700">
            <a:solidFill>
              <a:srgbClr val="CBEF4F"/>
            </a:solidFill>
            <a:prstDash val="solid"/>
          </a:ln>
        </p:spPr>
      </p:sp>
      <p:sp>
        <p:nvSpPr>
          <p:cNvPr id="45" name="Shape 43"/>
          <p:cNvSpPr/>
          <p:nvPr/>
        </p:nvSpPr>
        <p:spPr>
          <a:xfrm>
            <a:off x="1399032" y="5696712"/>
            <a:ext cx="164592" cy="164592"/>
          </a:xfrm>
          <a:prstGeom prst="ellipse">
            <a:avLst/>
          </a:prstGeom>
          <a:solidFill>
            <a:srgbClr val="6B54A0"/>
          </a:solidFill>
          <a:ln w="12700">
            <a:solidFill>
              <a:srgbClr val="6B54A0"/>
            </a:solidFill>
            <a:prstDash val="solid"/>
          </a:ln>
        </p:spPr>
      </p:sp>
      <p:sp>
        <p:nvSpPr>
          <p:cNvPr id="46" name="Shape 44"/>
          <p:cNvSpPr/>
          <p:nvPr/>
        </p:nvSpPr>
        <p:spPr>
          <a:xfrm>
            <a:off x="978408" y="5696712"/>
            <a:ext cx="164592" cy="164592"/>
          </a:xfrm>
          <a:prstGeom prst="ellipse">
            <a:avLst/>
          </a:prstGeom>
          <a:solidFill>
            <a:srgbClr val="6B54A0"/>
          </a:solidFill>
          <a:ln w="12700">
            <a:solidFill>
              <a:srgbClr val="6B54A0"/>
            </a:solidFill>
            <a:prstDash val="solid"/>
          </a:ln>
        </p:spPr>
      </p:sp>
      <p:sp>
        <p:nvSpPr>
          <p:cNvPr id="47" name="Text 45"/>
          <p:cNvSpPr/>
          <p:nvPr/>
        </p:nvSpPr>
        <p:spPr>
          <a:xfrm>
            <a:off x="1691640" y="5413248"/>
            <a:ext cx="3566160" cy="237744"/>
          </a:xfrm>
          <a:prstGeom prst="rect">
            <a:avLst/>
          </a:prstGeom>
          <a:noFill/>
          <a:ln/>
        </p:spPr>
        <p:txBody>
          <a:bodyPr wrap="square" lIns="0" tIns="0" rIns="0" bIns="0" rtlCol="0" anchor="ctr"/>
          <a:lstStyle/>
          <a:p>
            <a:pPr indent="0" marL="0">
              <a:buNone/>
            </a:pPr>
            <a:r>
              <a:rPr lang="en-US" sz="1050" dirty="0">
                <a:solidFill>
                  <a:srgbClr val="9C8CBC"/>
                </a:solidFill>
                <a:latin typeface="Calibri" pitchFamily="34" charset="0"/>
                <a:ea typeface="Calibri" pitchFamily="34" charset="-122"/>
                <a:cs typeface="Calibri" pitchFamily="34" charset="-120"/>
              </a:rPr>
              <a:t>Under the guidance of</a:t>
            </a:r>
            <a:endParaRPr lang="en-US" sz="1050" dirty="0"/>
          </a:p>
        </p:txBody>
      </p:sp>
      <p:sp>
        <p:nvSpPr>
          <p:cNvPr id="48" name="Text 46"/>
          <p:cNvSpPr/>
          <p:nvPr/>
        </p:nvSpPr>
        <p:spPr>
          <a:xfrm>
            <a:off x="1691640" y="5632704"/>
            <a:ext cx="35661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 J Sirisha Devi</a:t>
            </a:r>
            <a:endParaRPr lang="en-US" sz="1500" dirty="0"/>
          </a:p>
        </p:txBody>
      </p:sp>
      <p:sp>
        <p:nvSpPr>
          <p:cNvPr id="49" name="Text 47"/>
          <p:cNvSpPr/>
          <p:nvPr/>
        </p:nvSpPr>
        <p:spPr>
          <a:xfrm>
            <a:off x="7315200" y="4617720"/>
            <a:ext cx="4206240" cy="274320"/>
          </a:xfrm>
          <a:prstGeom prst="rect">
            <a:avLst/>
          </a:prstGeom>
          <a:noFill/>
          <a:ln/>
        </p:spPr>
        <p:txBody>
          <a:bodyPr wrap="square" lIns="0" tIns="0" rIns="0" bIns="0" rtlCol="0" anchor="ctr"/>
          <a:lstStyle/>
          <a:p>
            <a:pPr algn="ctr" indent="0" marL="0">
              <a:buNone/>
            </a:pPr>
            <a:r>
              <a:rPr lang="en-US" sz="1050" i="1" dirty="0">
                <a:solidFill>
                  <a:srgbClr val="8B7BA8"/>
                </a:solidFill>
                <a:latin typeface="Calibri" pitchFamily="34" charset="0"/>
                <a:ea typeface="Calibri" pitchFamily="34" charset="-122"/>
                <a:cs typeface="Calibri" pitchFamily="34" charset="-120"/>
              </a:rPr>
              <a:t>Highlighted edges mark the diameter path</a:t>
            </a:r>
            <a:endParaRPr lang="en-US" sz="1050" dirty="0"/>
          </a:p>
        </p:txBody>
      </p:sp>
      <p:pic>
        <p:nvPicPr>
          <p:cNvPr id="50" name="Picture 49" descr="KLU_Logo_Exact.png"/>
          <p:cNvPicPr>
            <a:picLocks noChangeAspect="1"/>
          </p:cNvPicPr>
          <p:nvPr/>
        </p:nvPicPr>
        <p:blipFill>
          <a:blip r:embed="rId3"/>
          <a:stretch>
            <a:fillRect/>
          </a:stretch>
        </p:blipFill>
        <p:spPr>
          <a:xfrm>
            <a:off x="10012680" y="91440"/>
            <a:ext cx="1508760" cy="7160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7315200" cy="256032"/>
          </a:xfrm>
          <a:prstGeom prst="rect">
            <a:avLst/>
          </a:prstGeom>
          <a:noFill/>
          <a:ln/>
        </p:spPr>
        <p:txBody>
          <a:bodyPr wrap="square" lIns="0" tIns="0" rIns="0" bIns="0" rtlCol="0" anchor="ctr"/>
          <a:lstStyle/>
          <a:p>
            <a:pPr indent="0" marL="0">
              <a:buNone/>
            </a:pPr>
            <a:r>
              <a:rPr lang="en-US" sz="1150" b="1" spc="250" kern="0" dirty="0">
                <a:solidFill>
                  <a:srgbClr val="6A3FBF"/>
                </a:solidFill>
                <a:latin typeface="Calibri" pitchFamily="34" charset="0"/>
                <a:ea typeface="Calibri" pitchFamily="34" charset="-122"/>
                <a:cs typeface="Calibri" pitchFamily="34" charset="-120"/>
              </a:rPr>
              <a:t>SLIDE 02</a:t>
            </a:r>
            <a:endParaRPr lang="en-US" sz="1150" dirty="0"/>
          </a:p>
        </p:txBody>
      </p:sp>
      <p:sp>
        <p:nvSpPr>
          <p:cNvPr id="3" name="Text 1"/>
          <p:cNvSpPr/>
          <p:nvPr/>
        </p:nvSpPr>
        <p:spPr>
          <a:xfrm>
            <a:off x="685800" y="640080"/>
            <a:ext cx="9601200" cy="566928"/>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Abstract</a:t>
            </a:r>
            <a:endParaRPr lang="en-US" sz="3400" dirty="0"/>
          </a:p>
        </p:txBody>
      </p:sp>
      <p:sp>
        <p:nvSpPr>
          <p:cNvPr id="7" name="Shape 5"/>
          <p:cNvSpPr/>
          <p:nvPr/>
        </p:nvSpPr>
        <p:spPr>
          <a:xfrm>
            <a:off x="11521440" y="795528"/>
            <a:ext cx="164592" cy="164592"/>
          </a:xfrm>
          <a:prstGeom prst="ellipse">
            <a:avLst/>
          </a:prstGeom>
          <a:solidFill>
            <a:srgbClr val="D6CCE8"/>
          </a:solidFill>
          <a:ln w="12700">
            <a:solidFill>
              <a:srgbClr val="D6CCE8"/>
            </a:solidFill>
            <a:prstDash val="solid"/>
          </a:ln>
        </p:spPr>
      </p:sp>
      <p:sp>
        <p:nvSpPr>
          <p:cNvPr id="8" name="Shape 6"/>
          <p:cNvSpPr/>
          <p:nvPr/>
        </p:nvSpPr>
        <p:spPr>
          <a:xfrm>
            <a:off x="11100816" y="795528"/>
            <a:ext cx="164592" cy="164592"/>
          </a:xfrm>
          <a:prstGeom prst="ellipse">
            <a:avLst/>
          </a:prstGeom>
          <a:solidFill>
            <a:srgbClr val="D6CCE8"/>
          </a:solidFill>
          <a:ln w="12700">
            <a:solidFill>
              <a:srgbClr val="D6CCE8"/>
            </a:solidFill>
            <a:prstDash val="solid"/>
          </a:ln>
        </p:spPr>
      </p:sp>
      <p:sp>
        <p:nvSpPr>
          <p:cNvPr id="9" name="Shape 7"/>
          <p:cNvSpPr/>
          <p:nvPr/>
        </p:nvSpPr>
        <p:spPr>
          <a:xfrm>
            <a:off x="685800" y="1481328"/>
            <a:ext cx="7589520" cy="4754880"/>
          </a:xfrm>
          <a:prstGeom prst="roundRect">
            <a:avLst>
              <a:gd name="adj" fmla="val 1538"/>
            </a:avLst>
          </a:prstGeom>
          <a:solidFill>
            <a:srgbClr val="FAF8FE"/>
          </a:solidFill>
          <a:ln w="12700">
            <a:solidFill>
              <a:srgbClr val="E5DEF5"/>
            </a:solidFill>
            <a:prstDash val="solid"/>
          </a:ln>
        </p:spPr>
      </p:sp>
      <p:sp>
        <p:nvSpPr>
          <p:cNvPr id="10" name="Text 8"/>
          <p:cNvSpPr/>
          <p:nvPr/>
        </p:nvSpPr>
        <p:spPr>
          <a:xfrm>
            <a:off x="1005840" y="1783080"/>
            <a:ext cx="6949440" cy="4160520"/>
          </a:xfrm>
          <a:prstGeom prst="rect">
            <a:avLst/>
          </a:prstGeom>
          <a:noFill/>
          <a:ln/>
        </p:spPr>
        <p:txBody>
          <a:bodyPr wrap="square" lIns="0" tIns="0" rIns="0" bIns="0" rtlCol="0" anchor="ctr"/>
          <a:lstStyle/>
          <a:p>
            <a:pPr algn="l" indent="0" marL="0">
              <a:lnSpc>
                <a:spcPts val="2300"/>
              </a:lnSpc>
              <a:buNone/>
            </a:pPr>
            <a:r>
              <a:rPr lang="en-US" sz="1400" dirty="0">
                <a:solidFill>
                  <a:srgbClr val="33294A"/>
                </a:solidFill>
                <a:latin typeface="Calibri" pitchFamily="34" charset="0"/>
                <a:ea typeface="Calibri" pitchFamily="34" charset="-122"/>
                <a:cs typeface="Calibri" pitchFamily="34" charset="-120"/>
              </a:rPr>
              <a:t>The Tree Diameter Computation and Visualization System is an application designed to compute the diameter of a tree using dynamic programming techniques. The objective is to determine the longest path between any two nodes in a given tree efficiently. The system takes tree edges as input, constructs the corresponding tree structure, and processes it using a tree-based dynamic programming approach. By calculating and reusing the longest paths associated with each node, the system reduces redundant computations and efficiently determines the tree diameter.</a:t>
            </a:r>
            <a:endParaRPr lang="en-US" sz="1400" dirty="0"/>
          </a:p>
          <a:p>
            <a:pPr algn="l" indent="0" marL="0">
              <a:lnSpc>
                <a:spcPts val="2300"/>
              </a:lnSpc>
              <a:buNone/>
            </a:pPr>
            <a:endParaRPr lang="en-US" sz="1400" dirty="0"/>
          </a:p>
          <a:p>
            <a:pPr algn="l" indent="0" marL="0">
              <a:lnSpc>
                <a:spcPts val="2300"/>
              </a:lnSpc>
              <a:buNone/>
            </a:pPr>
            <a:r>
              <a:rPr lang="en-US" sz="1400" dirty="0">
                <a:solidFill>
                  <a:srgbClr val="33294A"/>
                </a:solidFill>
                <a:latin typeface="Calibri" pitchFamily="34" charset="0"/>
                <a:ea typeface="Calibri" pitchFamily="34" charset="-122"/>
                <a:cs typeface="Calibri" pitchFamily="34" charset="-120"/>
              </a:rPr>
              <a:t>The system produces the diameter length, representing the number of edges in the longest path between two nodes. Along with the numerical result, it visualizes the tree and highlights the diameter path, making the result easier to understand. The application is designed to handle trees with up to 1000 nodes, allowing it to process moderately large tree structures efficiently. Overall, the project demonstrates the practical use of dynamic programming, tree traversal, and visualization to solve the tree diameter problem in an efficient and intuitive manner.</a:t>
            </a:r>
            <a:endParaRPr lang="en-US" sz="1400" dirty="0"/>
          </a:p>
        </p:txBody>
      </p:sp>
      <p:sp>
        <p:nvSpPr>
          <p:cNvPr id="11" name="Shape 9"/>
          <p:cNvSpPr/>
          <p:nvPr/>
        </p:nvSpPr>
        <p:spPr>
          <a:xfrm>
            <a:off x="8686800" y="1481328"/>
            <a:ext cx="2788920" cy="1417320"/>
          </a:xfrm>
          <a:prstGeom prst="roundRect">
            <a:avLst>
              <a:gd name="adj" fmla="val 5161"/>
            </a:avLst>
          </a:prstGeom>
          <a:solidFill>
            <a:srgbClr val="3D2569"/>
          </a:solidFill>
          <a:ln w="12700">
            <a:solidFill>
              <a:srgbClr val="3D2569"/>
            </a:solidFill>
            <a:prstDash val="solid"/>
          </a:ln>
        </p:spPr>
      </p:sp>
      <p:sp>
        <p:nvSpPr>
          <p:cNvPr id="12" name="Text 10"/>
          <p:cNvSpPr/>
          <p:nvPr/>
        </p:nvSpPr>
        <p:spPr>
          <a:xfrm>
            <a:off x="8942832" y="1609344"/>
            <a:ext cx="2286000" cy="548640"/>
          </a:xfrm>
          <a:prstGeom prst="rect">
            <a:avLst/>
          </a:prstGeom>
          <a:noFill/>
          <a:ln/>
        </p:spPr>
        <p:txBody>
          <a:bodyPr wrap="square" lIns="0" tIns="0" rIns="0" bIns="0" rtlCol="0" anchor="ctr"/>
          <a:lstStyle/>
          <a:p>
            <a:pPr indent="0" marL="0">
              <a:buNone/>
            </a:pPr>
            <a:r>
              <a:rPr lang="en-US" sz="3400" b="1" dirty="0">
                <a:solidFill>
                  <a:srgbClr val="CBEF4F"/>
                </a:solidFill>
                <a:latin typeface="Cambria" pitchFamily="34" charset="0"/>
                <a:ea typeface="Cambria" pitchFamily="34" charset="-122"/>
                <a:cs typeface="Cambria" pitchFamily="34" charset="-120"/>
              </a:rPr>
              <a:t>1000</a:t>
            </a:r>
            <a:endParaRPr lang="en-US" sz="3400" dirty="0"/>
          </a:p>
        </p:txBody>
      </p:sp>
      <p:sp>
        <p:nvSpPr>
          <p:cNvPr id="13" name="Text 11"/>
          <p:cNvSpPr/>
          <p:nvPr/>
        </p:nvSpPr>
        <p:spPr>
          <a:xfrm>
            <a:off x="8942832" y="2139696"/>
            <a:ext cx="2286000" cy="237744"/>
          </a:xfrm>
          <a:prstGeom prst="rect">
            <a:avLst/>
          </a:prstGeom>
          <a:noFill/>
          <a:ln/>
        </p:spPr>
        <p:txBody>
          <a:bodyPr wrap="square" lIns="0" tIns="0" rIns="0" bIns="0" rtlCol="0" anchor="ctr"/>
          <a:lstStyle/>
          <a:p>
            <a:pPr indent="0" marL="0">
              <a:buNone/>
            </a:pPr>
            <a:r>
              <a:rPr lang="en-US" sz="1100" b="1" spc="120" kern="0" dirty="0">
                <a:solidFill>
                  <a:srgbClr val="C7B4F0"/>
                </a:solidFill>
                <a:latin typeface="Calibri" pitchFamily="34" charset="0"/>
                <a:ea typeface="Calibri" pitchFamily="34" charset="-122"/>
                <a:cs typeface="Calibri" pitchFamily="34" charset="-120"/>
              </a:rPr>
              <a:t>nodes supported</a:t>
            </a:r>
            <a:endParaRPr lang="en-US" sz="1100" dirty="0"/>
          </a:p>
        </p:txBody>
      </p:sp>
      <p:sp>
        <p:nvSpPr>
          <p:cNvPr id="14" name="Text 12"/>
          <p:cNvSpPr/>
          <p:nvPr/>
        </p:nvSpPr>
        <p:spPr>
          <a:xfrm>
            <a:off x="8942832" y="2386584"/>
            <a:ext cx="2286000" cy="438912"/>
          </a:xfrm>
          <a:prstGeom prst="rect">
            <a:avLst/>
          </a:prstGeom>
          <a:noFill/>
          <a:ln/>
        </p:spPr>
        <p:txBody>
          <a:bodyPr wrap="square" lIns="0" tIns="0" rIns="0" bIns="0" rtlCol="0" anchor="ctr"/>
          <a:lstStyle/>
          <a:p>
            <a:pPr indent="0" marL="0">
              <a:lnSpc>
                <a:spcPts val="1400"/>
              </a:lnSpc>
              <a:buNone/>
            </a:pPr>
            <a:r>
              <a:rPr lang="en-US" sz="1050" dirty="0">
                <a:solidFill>
                  <a:srgbClr val="C3B5DD"/>
                </a:solidFill>
                <a:latin typeface="Calibri" pitchFamily="34" charset="0"/>
                <a:ea typeface="Calibri" pitchFamily="34" charset="-122"/>
                <a:cs typeface="Calibri" pitchFamily="34" charset="-120"/>
              </a:rPr>
              <a:t>Handles moderately large tree structures.</a:t>
            </a:r>
            <a:endParaRPr lang="en-US" sz="1050" dirty="0"/>
          </a:p>
        </p:txBody>
      </p:sp>
      <p:sp>
        <p:nvSpPr>
          <p:cNvPr id="15" name="Shape 13"/>
          <p:cNvSpPr/>
          <p:nvPr/>
        </p:nvSpPr>
        <p:spPr>
          <a:xfrm>
            <a:off x="8686800" y="3108960"/>
            <a:ext cx="2788920" cy="1417320"/>
          </a:xfrm>
          <a:prstGeom prst="roundRect">
            <a:avLst>
              <a:gd name="adj" fmla="val 5161"/>
            </a:avLst>
          </a:prstGeom>
          <a:solidFill>
            <a:srgbClr val="F2EEFA"/>
          </a:solidFill>
          <a:ln w="12700">
            <a:solidFill>
              <a:srgbClr val="E5DEF5"/>
            </a:solidFill>
            <a:prstDash val="solid"/>
          </a:ln>
        </p:spPr>
      </p:sp>
      <p:sp>
        <p:nvSpPr>
          <p:cNvPr id="16" name="Text 14"/>
          <p:cNvSpPr/>
          <p:nvPr/>
        </p:nvSpPr>
        <p:spPr>
          <a:xfrm>
            <a:off x="8942832" y="3236976"/>
            <a:ext cx="2286000" cy="548640"/>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1</a:t>
            </a:r>
            <a:endParaRPr lang="en-US" sz="3400" dirty="0"/>
          </a:p>
        </p:txBody>
      </p:sp>
      <p:sp>
        <p:nvSpPr>
          <p:cNvPr id="17" name="Text 15"/>
          <p:cNvSpPr/>
          <p:nvPr/>
        </p:nvSpPr>
        <p:spPr>
          <a:xfrm>
            <a:off x="8942832" y="3767328"/>
            <a:ext cx="2286000" cy="237744"/>
          </a:xfrm>
          <a:prstGeom prst="rect">
            <a:avLst/>
          </a:prstGeom>
          <a:noFill/>
          <a:ln/>
        </p:spPr>
        <p:txBody>
          <a:bodyPr wrap="square" lIns="0" tIns="0" rIns="0" bIns="0" rtlCol="0" anchor="ctr"/>
          <a:lstStyle/>
          <a:p>
            <a:pPr indent="0" marL="0">
              <a:buNone/>
            </a:pPr>
            <a:r>
              <a:rPr lang="en-US" sz="1100" b="1" spc="120" kern="0" dirty="0">
                <a:solidFill>
                  <a:srgbClr val="6A3FBF"/>
                </a:solidFill>
                <a:latin typeface="Calibri" pitchFamily="34" charset="0"/>
                <a:ea typeface="Calibri" pitchFamily="34" charset="-122"/>
                <a:cs typeface="Calibri" pitchFamily="34" charset="-120"/>
              </a:rPr>
              <a:t>traversal pass</a:t>
            </a:r>
            <a:endParaRPr lang="en-US" sz="1100" dirty="0"/>
          </a:p>
        </p:txBody>
      </p:sp>
      <p:sp>
        <p:nvSpPr>
          <p:cNvPr id="18" name="Text 16"/>
          <p:cNvSpPr/>
          <p:nvPr/>
        </p:nvSpPr>
        <p:spPr>
          <a:xfrm>
            <a:off x="8942832" y="4014216"/>
            <a:ext cx="2286000" cy="438912"/>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Reuses per-node longest paths, no repeated work.</a:t>
            </a:r>
            <a:endParaRPr lang="en-US" sz="1050" dirty="0"/>
          </a:p>
        </p:txBody>
      </p:sp>
      <p:sp>
        <p:nvSpPr>
          <p:cNvPr id="19" name="Shape 17"/>
          <p:cNvSpPr/>
          <p:nvPr/>
        </p:nvSpPr>
        <p:spPr>
          <a:xfrm>
            <a:off x="8686800" y="4736592"/>
            <a:ext cx="2788920" cy="1417320"/>
          </a:xfrm>
          <a:prstGeom prst="roundRect">
            <a:avLst>
              <a:gd name="adj" fmla="val 5161"/>
            </a:avLst>
          </a:prstGeom>
          <a:solidFill>
            <a:srgbClr val="F2EEFA"/>
          </a:solidFill>
          <a:ln w="12700">
            <a:solidFill>
              <a:srgbClr val="E5DEF5"/>
            </a:solidFill>
            <a:prstDash val="solid"/>
          </a:ln>
        </p:spPr>
      </p:sp>
      <p:sp>
        <p:nvSpPr>
          <p:cNvPr id="20" name="Text 18"/>
          <p:cNvSpPr/>
          <p:nvPr/>
        </p:nvSpPr>
        <p:spPr>
          <a:xfrm>
            <a:off x="8942832" y="4864608"/>
            <a:ext cx="2286000" cy="548640"/>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2</a:t>
            </a:r>
            <a:endParaRPr lang="en-US" sz="3400" dirty="0"/>
          </a:p>
        </p:txBody>
      </p:sp>
      <p:sp>
        <p:nvSpPr>
          <p:cNvPr id="21" name="Text 19"/>
          <p:cNvSpPr/>
          <p:nvPr/>
        </p:nvSpPr>
        <p:spPr>
          <a:xfrm>
            <a:off x="8942832" y="5394960"/>
            <a:ext cx="2286000" cy="237744"/>
          </a:xfrm>
          <a:prstGeom prst="rect">
            <a:avLst/>
          </a:prstGeom>
          <a:noFill/>
          <a:ln/>
        </p:spPr>
        <p:txBody>
          <a:bodyPr wrap="square" lIns="0" tIns="0" rIns="0" bIns="0" rtlCol="0" anchor="ctr"/>
          <a:lstStyle/>
          <a:p>
            <a:pPr indent="0" marL="0">
              <a:buNone/>
            </a:pPr>
            <a:r>
              <a:rPr lang="en-US" sz="1100" b="1" spc="120" kern="0" dirty="0">
                <a:solidFill>
                  <a:srgbClr val="6A3FBF"/>
                </a:solidFill>
                <a:latin typeface="Calibri" pitchFamily="34" charset="0"/>
                <a:ea typeface="Calibri" pitchFamily="34" charset="-122"/>
                <a:cs typeface="Calibri" pitchFamily="34" charset="-120"/>
              </a:rPr>
              <a:t>outputs</a:t>
            </a:r>
            <a:endParaRPr lang="en-US" sz="1100" dirty="0"/>
          </a:p>
        </p:txBody>
      </p:sp>
      <p:sp>
        <p:nvSpPr>
          <p:cNvPr id="22" name="Text 20"/>
          <p:cNvSpPr/>
          <p:nvPr/>
        </p:nvSpPr>
        <p:spPr>
          <a:xfrm>
            <a:off x="8942832" y="5641848"/>
            <a:ext cx="2286000" cy="438912"/>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Diameter length plus a highlighted visual path.</a:t>
            </a:r>
            <a:endParaRPr lang="en-US" sz="1050" dirty="0"/>
          </a:p>
        </p:txBody>
      </p:sp>
      <p:pic>
        <p:nvPicPr>
          <p:cNvPr id="23" name="Picture 22" descr="KLU_Logo_Exact.png"/>
          <p:cNvPicPr>
            <a:picLocks noChangeAspect="1"/>
          </p:cNvPicPr>
          <p:nvPr/>
        </p:nvPicPr>
        <p:blipFill>
          <a:blip r:embed="rId3"/>
          <a:stretch>
            <a:fillRect/>
          </a:stretch>
        </p:blipFill>
        <p:spPr>
          <a:xfrm>
            <a:off x="73152" y="73152"/>
            <a:ext cx="1325880" cy="6292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7315200" cy="256032"/>
          </a:xfrm>
          <a:prstGeom prst="rect">
            <a:avLst/>
          </a:prstGeom>
          <a:noFill/>
          <a:ln/>
        </p:spPr>
        <p:txBody>
          <a:bodyPr wrap="square" lIns="0" tIns="0" rIns="0" bIns="0" rtlCol="0" anchor="ctr"/>
          <a:lstStyle/>
          <a:p>
            <a:pPr indent="0" marL="0">
              <a:buNone/>
            </a:pPr>
            <a:r>
              <a:rPr lang="en-US" sz="1150" b="1" spc="250" kern="0" dirty="0">
                <a:solidFill>
                  <a:srgbClr val="6A3FBF"/>
                </a:solidFill>
                <a:latin typeface="Calibri" pitchFamily="34" charset="0"/>
                <a:ea typeface="Calibri" pitchFamily="34" charset="-122"/>
                <a:cs typeface="Calibri" pitchFamily="34" charset="-120"/>
              </a:rPr>
              <a:t>SLIDE 03</a:t>
            </a:r>
            <a:endParaRPr lang="en-US" sz="1150" dirty="0"/>
          </a:p>
        </p:txBody>
      </p:sp>
      <p:sp>
        <p:nvSpPr>
          <p:cNvPr id="3" name="Text 1"/>
          <p:cNvSpPr/>
          <p:nvPr/>
        </p:nvSpPr>
        <p:spPr>
          <a:xfrm>
            <a:off x="685800" y="640080"/>
            <a:ext cx="9601200" cy="566928"/>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Problem Statement</a:t>
            </a:r>
            <a:endParaRPr lang="en-US" sz="3400" dirty="0"/>
          </a:p>
        </p:txBody>
      </p:sp>
      <p:sp>
        <p:nvSpPr>
          <p:cNvPr id="7" name="Shape 5"/>
          <p:cNvSpPr/>
          <p:nvPr/>
        </p:nvSpPr>
        <p:spPr>
          <a:xfrm>
            <a:off x="11521440" y="795528"/>
            <a:ext cx="164592" cy="164592"/>
          </a:xfrm>
          <a:prstGeom prst="ellipse">
            <a:avLst/>
          </a:prstGeom>
          <a:solidFill>
            <a:srgbClr val="D6CCE8"/>
          </a:solidFill>
          <a:ln w="12700">
            <a:solidFill>
              <a:srgbClr val="D6CCE8"/>
            </a:solidFill>
            <a:prstDash val="solid"/>
          </a:ln>
        </p:spPr>
      </p:sp>
      <p:sp>
        <p:nvSpPr>
          <p:cNvPr id="8" name="Shape 6"/>
          <p:cNvSpPr/>
          <p:nvPr/>
        </p:nvSpPr>
        <p:spPr>
          <a:xfrm>
            <a:off x="11100816" y="795528"/>
            <a:ext cx="164592" cy="164592"/>
          </a:xfrm>
          <a:prstGeom prst="ellipse">
            <a:avLst/>
          </a:prstGeom>
          <a:solidFill>
            <a:srgbClr val="D6CCE8"/>
          </a:solidFill>
          <a:ln w="12700">
            <a:solidFill>
              <a:srgbClr val="D6CCE8"/>
            </a:solidFill>
            <a:prstDash val="solid"/>
          </a:ln>
        </p:spPr>
      </p:sp>
      <p:sp>
        <p:nvSpPr>
          <p:cNvPr id="9" name="Shape 7"/>
          <p:cNvSpPr/>
          <p:nvPr/>
        </p:nvSpPr>
        <p:spPr>
          <a:xfrm>
            <a:off x="685800" y="1481328"/>
            <a:ext cx="6720840" cy="2788920"/>
          </a:xfrm>
          <a:prstGeom prst="roundRect">
            <a:avLst>
              <a:gd name="adj" fmla="val 2623"/>
            </a:avLst>
          </a:prstGeom>
          <a:solidFill>
            <a:srgbClr val="FAF8FE"/>
          </a:solidFill>
          <a:ln w="12700">
            <a:solidFill>
              <a:srgbClr val="E5DEF5"/>
            </a:solidFill>
            <a:prstDash val="solid"/>
          </a:ln>
        </p:spPr>
      </p:sp>
      <p:sp>
        <p:nvSpPr>
          <p:cNvPr id="10" name="Text 8"/>
          <p:cNvSpPr/>
          <p:nvPr/>
        </p:nvSpPr>
        <p:spPr>
          <a:xfrm>
            <a:off x="987552" y="1755648"/>
            <a:ext cx="6126480" cy="2286000"/>
          </a:xfrm>
          <a:prstGeom prst="rect">
            <a:avLst/>
          </a:prstGeom>
          <a:noFill/>
          <a:ln/>
        </p:spPr>
        <p:txBody>
          <a:bodyPr wrap="square" lIns="0" tIns="0" rIns="0" bIns="0" rtlCol="0" anchor="ctr"/>
          <a:lstStyle/>
          <a:p>
            <a:pPr indent="0" marL="0">
              <a:lnSpc>
                <a:spcPts val="2300"/>
              </a:lnSpc>
              <a:buNone/>
            </a:pPr>
            <a:r>
              <a:rPr lang="en-US" sz="1400" dirty="0">
                <a:solidFill>
                  <a:srgbClr val="33294A"/>
                </a:solidFill>
                <a:latin typeface="Calibri" pitchFamily="34" charset="0"/>
                <a:ea typeface="Calibri" pitchFamily="34" charset="-122"/>
                <a:cs typeface="Calibri" pitchFamily="34" charset="-120"/>
              </a:rPr>
              <a:t>Develop an application to compute the diameter of a tree using dynamic programming techniques. The system should accept the tree edges as input, construct the tree, and determine the longest path between any two nodes efficiently. The calculated diameter length should be displayed as the output. The application should also visualize the tree and highlight the nodes and edges that form the diameter path. The system should be capable of processing trees containing up to 1000 nodes and demonstrate the practical use of dynamic programming and tree traversal techniques.</a:t>
            </a:r>
            <a:endParaRPr lang="en-US" sz="1400" dirty="0"/>
          </a:p>
        </p:txBody>
      </p:sp>
      <p:sp>
        <p:nvSpPr>
          <p:cNvPr id="11" name="Shape 9"/>
          <p:cNvSpPr/>
          <p:nvPr/>
        </p:nvSpPr>
        <p:spPr>
          <a:xfrm>
            <a:off x="7772400" y="1481328"/>
            <a:ext cx="3703320" cy="2788920"/>
          </a:xfrm>
          <a:prstGeom prst="roundRect">
            <a:avLst>
              <a:gd name="adj" fmla="val 2623"/>
            </a:avLst>
          </a:prstGeom>
          <a:solidFill>
            <a:srgbClr val="3D2569"/>
          </a:solidFill>
          <a:ln w="12700">
            <a:solidFill>
              <a:srgbClr val="3D2569"/>
            </a:solidFill>
            <a:prstDash val="solid"/>
          </a:ln>
        </p:spPr>
      </p:sp>
      <p:sp>
        <p:nvSpPr>
          <p:cNvPr id="12" name="Shape 10"/>
          <p:cNvSpPr/>
          <p:nvPr/>
        </p:nvSpPr>
        <p:spPr>
          <a:xfrm>
            <a:off x="9006840" y="2323490"/>
            <a:ext cx="331927" cy="512978"/>
          </a:xfrm>
          <a:prstGeom prst="line">
            <a:avLst/>
          </a:prstGeom>
          <a:noFill/>
          <a:ln w="28575">
            <a:solidFill>
              <a:srgbClr val="55407F"/>
            </a:solidFill>
            <a:prstDash val="solid"/>
          </a:ln>
        </p:spPr>
      </p:sp>
      <p:sp>
        <p:nvSpPr>
          <p:cNvPr id="13" name="Shape 11"/>
          <p:cNvSpPr/>
          <p:nvPr/>
        </p:nvSpPr>
        <p:spPr>
          <a:xfrm flipH="1">
            <a:off x="9912096" y="2323490"/>
            <a:ext cx="301752" cy="512978"/>
          </a:xfrm>
          <a:prstGeom prst="line">
            <a:avLst/>
          </a:prstGeom>
          <a:noFill/>
          <a:ln w="28575">
            <a:solidFill>
              <a:srgbClr val="55407F"/>
            </a:solidFill>
            <a:prstDash val="solid"/>
          </a:ln>
        </p:spPr>
      </p:sp>
      <p:sp>
        <p:nvSpPr>
          <p:cNvPr id="14" name="Shape 12"/>
          <p:cNvSpPr/>
          <p:nvPr/>
        </p:nvSpPr>
        <p:spPr>
          <a:xfrm flipH="1">
            <a:off x="9006840" y="1810512"/>
            <a:ext cx="603504" cy="512978"/>
          </a:xfrm>
          <a:prstGeom prst="line">
            <a:avLst/>
          </a:prstGeom>
          <a:noFill/>
          <a:ln w="63500">
            <a:solidFill>
              <a:srgbClr val="CBEF4F"/>
            </a:solidFill>
            <a:prstDash val="solid"/>
          </a:ln>
        </p:spPr>
      </p:sp>
      <p:sp>
        <p:nvSpPr>
          <p:cNvPr id="15" name="Shape 13"/>
          <p:cNvSpPr/>
          <p:nvPr/>
        </p:nvSpPr>
        <p:spPr>
          <a:xfrm>
            <a:off x="9610344" y="1810512"/>
            <a:ext cx="603504" cy="512978"/>
          </a:xfrm>
          <a:prstGeom prst="line">
            <a:avLst/>
          </a:prstGeom>
          <a:noFill/>
          <a:ln w="63500">
            <a:solidFill>
              <a:srgbClr val="CBEF4F"/>
            </a:solidFill>
            <a:prstDash val="solid"/>
          </a:ln>
        </p:spPr>
      </p:sp>
      <p:sp>
        <p:nvSpPr>
          <p:cNvPr id="16" name="Shape 14"/>
          <p:cNvSpPr/>
          <p:nvPr/>
        </p:nvSpPr>
        <p:spPr>
          <a:xfrm flipH="1">
            <a:off x="8614562" y="2323490"/>
            <a:ext cx="392278" cy="512978"/>
          </a:xfrm>
          <a:prstGeom prst="line">
            <a:avLst/>
          </a:prstGeom>
          <a:noFill/>
          <a:ln w="63500">
            <a:solidFill>
              <a:srgbClr val="CBEF4F"/>
            </a:solidFill>
            <a:prstDash val="solid"/>
          </a:ln>
        </p:spPr>
      </p:sp>
      <p:sp>
        <p:nvSpPr>
          <p:cNvPr id="17" name="Shape 15"/>
          <p:cNvSpPr/>
          <p:nvPr/>
        </p:nvSpPr>
        <p:spPr>
          <a:xfrm>
            <a:off x="10213848" y="2323490"/>
            <a:ext cx="362102" cy="512978"/>
          </a:xfrm>
          <a:prstGeom prst="line">
            <a:avLst/>
          </a:prstGeom>
          <a:noFill/>
          <a:ln w="63500">
            <a:solidFill>
              <a:srgbClr val="CBEF4F"/>
            </a:solidFill>
            <a:prstDash val="solid"/>
          </a:ln>
        </p:spPr>
      </p:sp>
      <p:sp>
        <p:nvSpPr>
          <p:cNvPr id="18" name="Shape 16"/>
          <p:cNvSpPr/>
          <p:nvPr/>
        </p:nvSpPr>
        <p:spPr>
          <a:xfrm flipH="1">
            <a:off x="8403336" y="2836469"/>
            <a:ext cx="211226" cy="512978"/>
          </a:xfrm>
          <a:prstGeom prst="line">
            <a:avLst/>
          </a:prstGeom>
          <a:noFill/>
          <a:ln w="63500">
            <a:solidFill>
              <a:srgbClr val="CBEF4F"/>
            </a:solidFill>
            <a:prstDash val="solid"/>
          </a:ln>
        </p:spPr>
      </p:sp>
      <p:sp>
        <p:nvSpPr>
          <p:cNvPr id="19" name="Shape 17"/>
          <p:cNvSpPr/>
          <p:nvPr/>
        </p:nvSpPr>
        <p:spPr>
          <a:xfrm>
            <a:off x="10575950" y="2836469"/>
            <a:ext cx="271577" cy="512978"/>
          </a:xfrm>
          <a:prstGeom prst="line">
            <a:avLst/>
          </a:prstGeom>
          <a:noFill/>
          <a:ln w="63500">
            <a:solidFill>
              <a:srgbClr val="CBEF4F"/>
            </a:solidFill>
            <a:prstDash val="solid"/>
          </a:ln>
        </p:spPr>
      </p:sp>
      <p:sp>
        <p:nvSpPr>
          <p:cNvPr id="20" name="Shape 18"/>
          <p:cNvSpPr/>
          <p:nvPr/>
        </p:nvSpPr>
        <p:spPr>
          <a:xfrm>
            <a:off x="9446484" y="1646652"/>
            <a:ext cx="327721" cy="327721"/>
          </a:xfrm>
          <a:prstGeom prst="ellipse">
            <a:avLst/>
          </a:prstGeom>
          <a:solidFill>
            <a:srgbClr val="CBEF4F"/>
          </a:solidFill>
          <a:ln w="12700">
            <a:solidFill>
              <a:srgbClr val="CBEF4F"/>
            </a:solidFill>
            <a:prstDash val="solid"/>
          </a:ln>
        </p:spPr>
      </p:sp>
      <p:sp>
        <p:nvSpPr>
          <p:cNvPr id="21" name="Shape 19"/>
          <p:cNvSpPr/>
          <p:nvPr/>
        </p:nvSpPr>
        <p:spPr>
          <a:xfrm>
            <a:off x="8842980" y="2159630"/>
            <a:ext cx="327721" cy="327721"/>
          </a:xfrm>
          <a:prstGeom prst="ellipse">
            <a:avLst/>
          </a:prstGeom>
          <a:solidFill>
            <a:srgbClr val="CBEF4F"/>
          </a:solidFill>
          <a:ln w="12700">
            <a:solidFill>
              <a:srgbClr val="CBEF4F"/>
            </a:solidFill>
            <a:prstDash val="solid"/>
          </a:ln>
        </p:spPr>
      </p:sp>
      <p:sp>
        <p:nvSpPr>
          <p:cNvPr id="22" name="Shape 20"/>
          <p:cNvSpPr/>
          <p:nvPr/>
        </p:nvSpPr>
        <p:spPr>
          <a:xfrm>
            <a:off x="10049988" y="2159630"/>
            <a:ext cx="327721" cy="327721"/>
          </a:xfrm>
          <a:prstGeom prst="ellipse">
            <a:avLst/>
          </a:prstGeom>
          <a:solidFill>
            <a:srgbClr val="CBEF4F"/>
          </a:solidFill>
          <a:ln w="12700">
            <a:solidFill>
              <a:srgbClr val="CBEF4F"/>
            </a:solidFill>
            <a:prstDash val="solid"/>
          </a:ln>
        </p:spPr>
      </p:sp>
      <p:sp>
        <p:nvSpPr>
          <p:cNvPr id="23" name="Shape 21"/>
          <p:cNvSpPr/>
          <p:nvPr/>
        </p:nvSpPr>
        <p:spPr>
          <a:xfrm>
            <a:off x="8450702" y="2672608"/>
            <a:ext cx="327721" cy="327721"/>
          </a:xfrm>
          <a:prstGeom prst="ellipse">
            <a:avLst/>
          </a:prstGeom>
          <a:solidFill>
            <a:srgbClr val="CBEF4F"/>
          </a:solidFill>
          <a:ln w="12700">
            <a:solidFill>
              <a:srgbClr val="CBEF4F"/>
            </a:solidFill>
            <a:prstDash val="solid"/>
          </a:ln>
        </p:spPr>
      </p:sp>
      <p:sp>
        <p:nvSpPr>
          <p:cNvPr id="24" name="Shape 22"/>
          <p:cNvSpPr/>
          <p:nvPr/>
        </p:nvSpPr>
        <p:spPr>
          <a:xfrm>
            <a:off x="9192463" y="2690165"/>
            <a:ext cx="292608" cy="292608"/>
          </a:xfrm>
          <a:prstGeom prst="ellipse">
            <a:avLst/>
          </a:prstGeom>
          <a:solidFill>
            <a:srgbClr val="4E3A85"/>
          </a:solidFill>
          <a:ln w="12700">
            <a:solidFill>
              <a:srgbClr val="4E3A85"/>
            </a:solidFill>
            <a:prstDash val="solid"/>
          </a:ln>
        </p:spPr>
      </p:sp>
      <p:sp>
        <p:nvSpPr>
          <p:cNvPr id="25" name="Shape 23"/>
          <p:cNvSpPr/>
          <p:nvPr/>
        </p:nvSpPr>
        <p:spPr>
          <a:xfrm>
            <a:off x="10412090" y="2672608"/>
            <a:ext cx="327721" cy="327721"/>
          </a:xfrm>
          <a:prstGeom prst="ellipse">
            <a:avLst/>
          </a:prstGeom>
          <a:solidFill>
            <a:srgbClr val="CBEF4F"/>
          </a:solidFill>
          <a:ln w="12700">
            <a:solidFill>
              <a:srgbClr val="CBEF4F"/>
            </a:solidFill>
            <a:prstDash val="solid"/>
          </a:ln>
        </p:spPr>
      </p:sp>
      <p:sp>
        <p:nvSpPr>
          <p:cNvPr id="26" name="Shape 24"/>
          <p:cNvSpPr/>
          <p:nvPr/>
        </p:nvSpPr>
        <p:spPr>
          <a:xfrm>
            <a:off x="8239476" y="3185587"/>
            <a:ext cx="327721" cy="327721"/>
          </a:xfrm>
          <a:prstGeom prst="ellipse">
            <a:avLst/>
          </a:prstGeom>
          <a:solidFill>
            <a:srgbClr val="CBEF4F"/>
          </a:solidFill>
          <a:ln w="12700">
            <a:solidFill>
              <a:srgbClr val="CBEF4F"/>
            </a:solidFill>
            <a:prstDash val="solid"/>
          </a:ln>
        </p:spPr>
      </p:sp>
      <p:sp>
        <p:nvSpPr>
          <p:cNvPr id="27" name="Shape 25"/>
          <p:cNvSpPr/>
          <p:nvPr/>
        </p:nvSpPr>
        <p:spPr>
          <a:xfrm>
            <a:off x="10683667" y="3185587"/>
            <a:ext cx="327721" cy="327721"/>
          </a:xfrm>
          <a:prstGeom prst="ellipse">
            <a:avLst/>
          </a:prstGeom>
          <a:solidFill>
            <a:srgbClr val="CBEF4F"/>
          </a:solidFill>
          <a:ln w="12700">
            <a:solidFill>
              <a:srgbClr val="CBEF4F"/>
            </a:solidFill>
            <a:prstDash val="solid"/>
          </a:ln>
        </p:spPr>
      </p:sp>
      <p:sp>
        <p:nvSpPr>
          <p:cNvPr id="28" name="Shape 26"/>
          <p:cNvSpPr/>
          <p:nvPr/>
        </p:nvSpPr>
        <p:spPr>
          <a:xfrm>
            <a:off x="9765792" y="2690165"/>
            <a:ext cx="292608" cy="292608"/>
          </a:xfrm>
          <a:prstGeom prst="ellipse">
            <a:avLst/>
          </a:prstGeom>
          <a:solidFill>
            <a:srgbClr val="4E3A85"/>
          </a:solidFill>
          <a:ln w="12700">
            <a:solidFill>
              <a:srgbClr val="4E3A85"/>
            </a:solidFill>
            <a:prstDash val="solid"/>
          </a:ln>
        </p:spPr>
      </p:sp>
      <p:sp>
        <p:nvSpPr>
          <p:cNvPr id="29" name="Text 27"/>
          <p:cNvSpPr/>
          <p:nvPr/>
        </p:nvSpPr>
        <p:spPr>
          <a:xfrm>
            <a:off x="7955280" y="3712464"/>
            <a:ext cx="3337560" cy="292608"/>
          </a:xfrm>
          <a:prstGeom prst="rect">
            <a:avLst/>
          </a:prstGeom>
          <a:noFill/>
          <a:ln/>
        </p:spPr>
        <p:txBody>
          <a:bodyPr wrap="square" lIns="0" tIns="0" rIns="0" bIns="0" rtlCol="0" anchor="ctr"/>
          <a:lstStyle/>
          <a:p>
            <a:pPr algn="ctr" indent="0" marL="0">
              <a:buNone/>
            </a:pPr>
            <a:r>
              <a:rPr lang="en-US" sz="1300" b="1" dirty="0">
                <a:solidFill>
                  <a:srgbClr val="CBEF4F"/>
                </a:solidFill>
                <a:latin typeface="Calibri" pitchFamily="34" charset="0"/>
                <a:ea typeface="Calibri" pitchFamily="34" charset="-122"/>
                <a:cs typeface="Calibri" pitchFamily="34" charset="-120"/>
              </a:rPr>
              <a:t>Diameter = 6 edges</a:t>
            </a:r>
            <a:endParaRPr lang="en-US" sz="1300" dirty="0"/>
          </a:p>
        </p:txBody>
      </p:sp>
      <p:sp>
        <p:nvSpPr>
          <p:cNvPr id="30" name="Text 28"/>
          <p:cNvSpPr/>
          <p:nvPr/>
        </p:nvSpPr>
        <p:spPr>
          <a:xfrm>
            <a:off x="685800" y="4590288"/>
            <a:ext cx="5486400" cy="256032"/>
          </a:xfrm>
          <a:prstGeom prst="rect">
            <a:avLst/>
          </a:prstGeom>
          <a:noFill/>
          <a:ln/>
        </p:spPr>
        <p:txBody>
          <a:bodyPr wrap="square" lIns="0" tIns="0" rIns="0" bIns="0" rtlCol="0" anchor="ctr"/>
          <a:lstStyle/>
          <a:p>
            <a:pPr indent="0" marL="0">
              <a:buNone/>
            </a:pPr>
            <a:r>
              <a:rPr lang="en-US" sz="1100" b="1" spc="220" kern="0" dirty="0">
                <a:solidFill>
                  <a:srgbClr val="6A3FBF"/>
                </a:solidFill>
                <a:latin typeface="Calibri" pitchFamily="34" charset="0"/>
                <a:ea typeface="Calibri" pitchFamily="34" charset="-122"/>
                <a:cs typeface="Calibri" pitchFamily="34" charset="-120"/>
              </a:rPr>
              <a:t>HOW THE SYSTEM WORKS</a:t>
            </a:r>
            <a:endParaRPr lang="en-US" sz="1100" dirty="0"/>
          </a:p>
        </p:txBody>
      </p:sp>
      <p:sp>
        <p:nvSpPr>
          <p:cNvPr id="31" name="Shape 29"/>
          <p:cNvSpPr/>
          <p:nvPr/>
        </p:nvSpPr>
        <p:spPr>
          <a:xfrm>
            <a:off x="685800" y="4956048"/>
            <a:ext cx="2487168" cy="1133856"/>
          </a:xfrm>
          <a:prstGeom prst="roundRect">
            <a:avLst>
              <a:gd name="adj" fmla="val 6452"/>
            </a:avLst>
          </a:prstGeom>
          <a:solidFill>
            <a:srgbClr val="F2EEFA"/>
          </a:solidFill>
          <a:ln w="12700">
            <a:solidFill>
              <a:srgbClr val="E5DEF5"/>
            </a:solidFill>
            <a:prstDash val="solid"/>
          </a:ln>
        </p:spPr>
      </p:sp>
      <p:sp>
        <p:nvSpPr>
          <p:cNvPr id="32" name="Shape 30"/>
          <p:cNvSpPr/>
          <p:nvPr/>
        </p:nvSpPr>
        <p:spPr>
          <a:xfrm>
            <a:off x="886968" y="5138928"/>
            <a:ext cx="329184" cy="329184"/>
          </a:xfrm>
          <a:prstGeom prst="ellipse">
            <a:avLst/>
          </a:prstGeom>
          <a:solidFill>
            <a:srgbClr val="3D2569"/>
          </a:solidFill>
          <a:ln w="12700">
            <a:solidFill>
              <a:srgbClr val="3D2569"/>
            </a:solidFill>
            <a:prstDash val="solid"/>
          </a:ln>
        </p:spPr>
      </p:sp>
      <p:sp>
        <p:nvSpPr>
          <p:cNvPr id="33" name="Text 31"/>
          <p:cNvSpPr/>
          <p:nvPr/>
        </p:nvSpPr>
        <p:spPr>
          <a:xfrm>
            <a:off x="886968" y="5138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32"/>
          <p:cNvSpPr/>
          <p:nvPr/>
        </p:nvSpPr>
        <p:spPr>
          <a:xfrm>
            <a:off x="1307592" y="5148072"/>
            <a:ext cx="1737360" cy="274320"/>
          </a:xfrm>
          <a:prstGeom prst="rect">
            <a:avLst/>
          </a:prstGeom>
          <a:noFill/>
          <a:ln/>
        </p:spPr>
        <p:txBody>
          <a:bodyPr wrap="square" lIns="0" tIns="0" rIns="0" bIns="0" rtlCol="0" anchor="ctr"/>
          <a:lstStyle/>
          <a:p>
            <a:pPr indent="0" marL="0">
              <a:buNone/>
            </a:pPr>
            <a:r>
              <a:rPr lang="en-US" sz="1400" b="1" dirty="0">
                <a:solidFill>
                  <a:srgbClr val="3D2569"/>
                </a:solidFill>
                <a:latin typeface="Calibri" pitchFamily="34" charset="0"/>
                <a:ea typeface="Calibri" pitchFamily="34" charset="-122"/>
                <a:cs typeface="Calibri" pitchFamily="34" charset="-120"/>
              </a:rPr>
              <a:t>Input</a:t>
            </a:r>
            <a:endParaRPr lang="en-US" sz="1400" dirty="0"/>
          </a:p>
        </p:txBody>
      </p:sp>
      <p:sp>
        <p:nvSpPr>
          <p:cNvPr id="35" name="Text 33"/>
          <p:cNvSpPr/>
          <p:nvPr/>
        </p:nvSpPr>
        <p:spPr>
          <a:xfrm>
            <a:off x="886968" y="5541264"/>
            <a:ext cx="2139696" cy="457200"/>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Read the edge list of the tree</a:t>
            </a:r>
            <a:endParaRPr lang="en-US" sz="1050" dirty="0"/>
          </a:p>
        </p:txBody>
      </p:sp>
      <p:sp>
        <p:nvSpPr>
          <p:cNvPr id="36" name="Text 34"/>
          <p:cNvSpPr/>
          <p:nvPr/>
        </p:nvSpPr>
        <p:spPr>
          <a:xfrm>
            <a:off x="3172968" y="5340096"/>
            <a:ext cx="320040" cy="365760"/>
          </a:xfrm>
          <a:prstGeom prst="rect">
            <a:avLst/>
          </a:prstGeom>
          <a:noFill/>
          <a:ln/>
        </p:spPr>
        <p:txBody>
          <a:bodyPr wrap="square" lIns="0" tIns="0" rIns="0" bIns="0" rtlCol="0" anchor="ctr"/>
          <a:lstStyle/>
          <a:p>
            <a:pPr algn="ctr" indent="0" marL="0">
              <a:buNone/>
            </a:pPr>
            <a:r>
              <a:rPr lang="en-US" sz="2000" b="1" dirty="0">
                <a:solidFill>
                  <a:srgbClr val="BCACD8"/>
                </a:solidFill>
                <a:latin typeface="Calibri" pitchFamily="34" charset="0"/>
                <a:ea typeface="Calibri" pitchFamily="34" charset="-122"/>
                <a:cs typeface="Calibri" pitchFamily="34" charset="-120"/>
              </a:rPr>
              <a:t>›</a:t>
            </a:r>
            <a:endParaRPr lang="en-US" sz="2000" dirty="0"/>
          </a:p>
        </p:txBody>
      </p:sp>
      <p:sp>
        <p:nvSpPr>
          <p:cNvPr id="37" name="Shape 35"/>
          <p:cNvSpPr/>
          <p:nvPr/>
        </p:nvSpPr>
        <p:spPr>
          <a:xfrm>
            <a:off x="3493008" y="4956048"/>
            <a:ext cx="2487168" cy="1133856"/>
          </a:xfrm>
          <a:prstGeom prst="roundRect">
            <a:avLst>
              <a:gd name="adj" fmla="val 6452"/>
            </a:avLst>
          </a:prstGeom>
          <a:solidFill>
            <a:srgbClr val="F2EEFA"/>
          </a:solidFill>
          <a:ln w="12700">
            <a:solidFill>
              <a:srgbClr val="E5DEF5"/>
            </a:solidFill>
            <a:prstDash val="solid"/>
          </a:ln>
        </p:spPr>
      </p:sp>
      <p:sp>
        <p:nvSpPr>
          <p:cNvPr id="38" name="Shape 36"/>
          <p:cNvSpPr/>
          <p:nvPr/>
        </p:nvSpPr>
        <p:spPr>
          <a:xfrm>
            <a:off x="3694176" y="5138928"/>
            <a:ext cx="329184" cy="329184"/>
          </a:xfrm>
          <a:prstGeom prst="ellipse">
            <a:avLst/>
          </a:prstGeom>
          <a:solidFill>
            <a:srgbClr val="3D2569"/>
          </a:solidFill>
          <a:ln w="12700">
            <a:solidFill>
              <a:srgbClr val="3D2569"/>
            </a:solidFill>
            <a:prstDash val="solid"/>
          </a:ln>
        </p:spPr>
      </p:sp>
      <p:sp>
        <p:nvSpPr>
          <p:cNvPr id="39" name="Text 37"/>
          <p:cNvSpPr/>
          <p:nvPr/>
        </p:nvSpPr>
        <p:spPr>
          <a:xfrm>
            <a:off x="3694176" y="5138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Text 38"/>
          <p:cNvSpPr/>
          <p:nvPr/>
        </p:nvSpPr>
        <p:spPr>
          <a:xfrm>
            <a:off x="4114800" y="5148072"/>
            <a:ext cx="1737360" cy="274320"/>
          </a:xfrm>
          <a:prstGeom prst="rect">
            <a:avLst/>
          </a:prstGeom>
          <a:noFill/>
          <a:ln/>
        </p:spPr>
        <p:txBody>
          <a:bodyPr wrap="square" lIns="0" tIns="0" rIns="0" bIns="0" rtlCol="0" anchor="ctr"/>
          <a:lstStyle/>
          <a:p>
            <a:pPr indent="0" marL="0">
              <a:buNone/>
            </a:pPr>
            <a:r>
              <a:rPr lang="en-US" sz="1400" b="1" dirty="0">
                <a:solidFill>
                  <a:srgbClr val="3D2569"/>
                </a:solidFill>
                <a:latin typeface="Calibri" pitchFamily="34" charset="0"/>
                <a:ea typeface="Calibri" pitchFamily="34" charset="-122"/>
                <a:cs typeface="Calibri" pitchFamily="34" charset="-120"/>
              </a:rPr>
              <a:t>Construct</a:t>
            </a:r>
            <a:endParaRPr lang="en-US" sz="1400" dirty="0"/>
          </a:p>
        </p:txBody>
      </p:sp>
      <p:sp>
        <p:nvSpPr>
          <p:cNvPr id="41" name="Text 39"/>
          <p:cNvSpPr/>
          <p:nvPr/>
        </p:nvSpPr>
        <p:spPr>
          <a:xfrm>
            <a:off x="3694176" y="5541264"/>
            <a:ext cx="2139696" cy="457200"/>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Build the adjacency structure</a:t>
            </a:r>
            <a:endParaRPr lang="en-US" sz="1050" dirty="0"/>
          </a:p>
        </p:txBody>
      </p:sp>
      <p:sp>
        <p:nvSpPr>
          <p:cNvPr id="42" name="Text 40"/>
          <p:cNvSpPr/>
          <p:nvPr/>
        </p:nvSpPr>
        <p:spPr>
          <a:xfrm>
            <a:off x="5980176" y="5340096"/>
            <a:ext cx="320040" cy="365760"/>
          </a:xfrm>
          <a:prstGeom prst="rect">
            <a:avLst/>
          </a:prstGeom>
          <a:noFill/>
          <a:ln/>
        </p:spPr>
        <p:txBody>
          <a:bodyPr wrap="square" lIns="0" tIns="0" rIns="0" bIns="0" rtlCol="0" anchor="ctr"/>
          <a:lstStyle/>
          <a:p>
            <a:pPr algn="ctr" indent="0" marL="0">
              <a:buNone/>
            </a:pPr>
            <a:r>
              <a:rPr lang="en-US" sz="2000" b="1" dirty="0">
                <a:solidFill>
                  <a:srgbClr val="BCACD8"/>
                </a:solidFill>
                <a:latin typeface="Calibri" pitchFamily="34" charset="0"/>
                <a:ea typeface="Calibri" pitchFamily="34" charset="-122"/>
                <a:cs typeface="Calibri" pitchFamily="34" charset="-120"/>
              </a:rPr>
              <a:t>›</a:t>
            </a:r>
            <a:endParaRPr lang="en-US" sz="2000" dirty="0"/>
          </a:p>
        </p:txBody>
      </p:sp>
      <p:sp>
        <p:nvSpPr>
          <p:cNvPr id="43" name="Shape 41"/>
          <p:cNvSpPr/>
          <p:nvPr/>
        </p:nvSpPr>
        <p:spPr>
          <a:xfrm>
            <a:off x="6300216" y="4956048"/>
            <a:ext cx="2487168" cy="1133856"/>
          </a:xfrm>
          <a:prstGeom prst="roundRect">
            <a:avLst>
              <a:gd name="adj" fmla="val 6452"/>
            </a:avLst>
          </a:prstGeom>
          <a:solidFill>
            <a:srgbClr val="F2EEFA"/>
          </a:solidFill>
          <a:ln w="12700">
            <a:solidFill>
              <a:srgbClr val="E5DEF5"/>
            </a:solidFill>
            <a:prstDash val="solid"/>
          </a:ln>
        </p:spPr>
      </p:sp>
      <p:sp>
        <p:nvSpPr>
          <p:cNvPr id="44" name="Shape 42"/>
          <p:cNvSpPr/>
          <p:nvPr/>
        </p:nvSpPr>
        <p:spPr>
          <a:xfrm>
            <a:off x="6501384" y="5138928"/>
            <a:ext cx="329184" cy="329184"/>
          </a:xfrm>
          <a:prstGeom prst="ellipse">
            <a:avLst/>
          </a:prstGeom>
          <a:solidFill>
            <a:srgbClr val="3D2569"/>
          </a:solidFill>
          <a:ln w="12700">
            <a:solidFill>
              <a:srgbClr val="3D2569"/>
            </a:solidFill>
            <a:prstDash val="solid"/>
          </a:ln>
        </p:spPr>
      </p:sp>
      <p:sp>
        <p:nvSpPr>
          <p:cNvPr id="45" name="Text 43"/>
          <p:cNvSpPr/>
          <p:nvPr/>
        </p:nvSpPr>
        <p:spPr>
          <a:xfrm>
            <a:off x="6501384" y="5138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Text 44"/>
          <p:cNvSpPr/>
          <p:nvPr/>
        </p:nvSpPr>
        <p:spPr>
          <a:xfrm>
            <a:off x="6922008" y="5148072"/>
            <a:ext cx="1737360" cy="274320"/>
          </a:xfrm>
          <a:prstGeom prst="rect">
            <a:avLst/>
          </a:prstGeom>
          <a:noFill/>
          <a:ln/>
        </p:spPr>
        <p:txBody>
          <a:bodyPr wrap="square" lIns="0" tIns="0" rIns="0" bIns="0" rtlCol="0" anchor="ctr"/>
          <a:lstStyle/>
          <a:p>
            <a:pPr indent="0" marL="0">
              <a:buNone/>
            </a:pPr>
            <a:r>
              <a:rPr lang="en-US" sz="1400" b="1" dirty="0">
                <a:solidFill>
                  <a:srgbClr val="3D2569"/>
                </a:solidFill>
                <a:latin typeface="Calibri" pitchFamily="34" charset="0"/>
                <a:ea typeface="Calibri" pitchFamily="34" charset="-122"/>
                <a:cs typeface="Calibri" pitchFamily="34" charset="-120"/>
              </a:rPr>
              <a:t>Compute</a:t>
            </a:r>
            <a:endParaRPr lang="en-US" sz="1400" dirty="0"/>
          </a:p>
        </p:txBody>
      </p:sp>
      <p:sp>
        <p:nvSpPr>
          <p:cNvPr id="47" name="Text 45"/>
          <p:cNvSpPr/>
          <p:nvPr/>
        </p:nvSpPr>
        <p:spPr>
          <a:xfrm>
            <a:off x="6501384" y="5541264"/>
            <a:ext cx="2139696" cy="457200"/>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DP traversal for longest paths</a:t>
            </a:r>
            <a:endParaRPr lang="en-US" sz="1050" dirty="0"/>
          </a:p>
        </p:txBody>
      </p:sp>
      <p:sp>
        <p:nvSpPr>
          <p:cNvPr id="48" name="Text 46"/>
          <p:cNvSpPr/>
          <p:nvPr/>
        </p:nvSpPr>
        <p:spPr>
          <a:xfrm>
            <a:off x="8787384" y="5340096"/>
            <a:ext cx="320040" cy="365760"/>
          </a:xfrm>
          <a:prstGeom prst="rect">
            <a:avLst/>
          </a:prstGeom>
          <a:noFill/>
          <a:ln/>
        </p:spPr>
        <p:txBody>
          <a:bodyPr wrap="square" lIns="0" tIns="0" rIns="0" bIns="0" rtlCol="0" anchor="ctr"/>
          <a:lstStyle/>
          <a:p>
            <a:pPr algn="ctr" indent="0" marL="0">
              <a:buNone/>
            </a:pPr>
            <a:r>
              <a:rPr lang="en-US" sz="2000" b="1" dirty="0">
                <a:solidFill>
                  <a:srgbClr val="BCACD8"/>
                </a:solidFill>
                <a:latin typeface="Calibri" pitchFamily="34" charset="0"/>
                <a:ea typeface="Calibri" pitchFamily="34" charset="-122"/>
                <a:cs typeface="Calibri" pitchFamily="34" charset="-120"/>
              </a:rPr>
              <a:t>›</a:t>
            </a:r>
            <a:endParaRPr lang="en-US" sz="2000" dirty="0"/>
          </a:p>
        </p:txBody>
      </p:sp>
      <p:sp>
        <p:nvSpPr>
          <p:cNvPr id="49" name="Shape 47"/>
          <p:cNvSpPr/>
          <p:nvPr/>
        </p:nvSpPr>
        <p:spPr>
          <a:xfrm>
            <a:off x="9107424" y="4956048"/>
            <a:ext cx="2487168" cy="1133856"/>
          </a:xfrm>
          <a:prstGeom prst="roundRect">
            <a:avLst>
              <a:gd name="adj" fmla="val 6452"/>
            </a:avLst>
          </a:prstGeom>
          <a:solidFill>
            <a:srgbClr val="F2EEFA"/>
          </a:solidFill>
          <a:ln w="12700">
            <a:solidFill>
              <a:srgbClr val="E5DEF5"/>
            </a:solidFill>
            <a:prstDash val="solid"/>
          </a:ln>
        </p:spPr>
      </p:sp>
      <p:sp>
        <p:nvSpPr>
          <p:cNvPr id="50" name="Shape 48"/>
          <p:cNvSpPr/>
          <p:nvPr/>
        </p:nvSpPr>
        <p:spPr>
          <a:xfrm>
            <a:off x="9308592" y="5138928"/>
            <a:ext cx="329184" cy="329184"/>
          </a:xfrm>
          <a:prstGeom prst="ellipse">
            <a:avLst/>
          </a:prstGeom>
          <a:solidFill>
            <a:srgbClr val="CBEF4F"/>
          </a:solidFill>
          <a:ln w="12700">
            <a:solidFill>
              <a:srgbClr val="CBEF4F"/>
            </a:solidFill>
            <a:prstDash val="solid"/>
          </a:ln>
        </p:spPr>
      </p:sp>
      <p:sp>
        <p:nvSpPr>
          <p:cNvPr id="51" name="Text 49"/>
          <p:cNvSpPr/>
          <p:nvPr/>
        </p:nvSpPr>
        <p:spPr>
          <a:xfrm>
            <a:off x="9308592" y="5138928"/>
            <a:ext cx="329184" cy="329184"/>
          </a:xfrm>
          <a:prstGeom prst="rect">
            <a:avLst/>
          </a:prstGeom>
          <a:noFill/>
          <a:ln/>
        </p:spPr>
        <p:txBody>
          <a:bodyPr wrap="square" lIns="0" tIns="0" rIns="0" bIns="0" rtlCol="0" anchor="ctr"/>
          <a:lstStyle/>
          <a:p>
            <a:pPr algn="ctr" indent="0" marL="0">
              <a:buNone/>
            </a:pPr>
            <a:r>
              <a:rPr lang="en-US" sz="1200" b="1" dirty="0">
                <a:solidFill>
                  <a:srgbClr val="1C1030"/>
                </a:solidFill>
                <a:latin typeface="Calibri" pitchFamily="34" charset="0"/>
                <a:ea typeface="Calibri" pitchFamily="34" charset="-122"/>
                <a:cs typeface="Calibri" pitchFamily="34" charset="-120"/>
              </a:rPr>
              <a:t>4</a:t>
            </a:r>
            <a:endParaRPr lang="en-US" sz="1200" dirty="0"/>
          </a:p>
        </p:txBody>
      </p:sp>
      <p:sp>
        <p:nvSpPr>
          <p:cNvPr id="52" name="Text 50"/>
          <p:cNvSpPr/>
          <p:nvPr/>
        </p:nvSpPr>
        <p:spPr>
          <a:xfrm>
            <a:off x="9729216" y="5148072"/>
            <a:ext cx="1737360" cy="274320"/>
          </a:xfrm>
          <a:prstGeom prst="rect">
            <a:avLst/>
          </a:prstGeom>
          <a:noFill/>
          <a:ln/>
        </p:spPr>
        <p:txBody>
          <a:bodyPr wrap="square" lIns="0" tIns="0" rIns="0" bIns="0" rtlCol="0" anchor="ctr"/>
          <a:lstStyle/>
          <a:p>
            <a:pPr indent="0" marL="0">
              <a:buNone/>
            </a:pPr>
            <a:r>
              <a:rPr lang="en-US" sz="1400" b="1" dirty="0">
                <a:solidFill>
                  <a:srgbClr val="3D2569"/>
                </a:solidFill>
                <a:latin typeface="Calibri" pitchFamily="34" charset="0"/>
                <a:ea typeface="Calibri" pitchFamily="34" charset="-122"/>
                <a:cs typeface="Calibri" pitchFamily="34" charset="-120"/>
              </a:rPr>
              <a:t>Visualize</a:t>
            </a:r>
            <a:endParaRPr lang="en-US" sz="1400" dirty="0"/>
          </a:p>
        </p:txBody>
      </p:sp>
      <p:sp>
        <p:nvSpPr>
          <p:cNvPr id="53" name="Text 51"/>
          <p:cNvSpPr/>
          <p:nvPr/>
        </p:nvSpPr>
        <p:spPr>
          <a:xfrm>
            <a:off x="9308592" y="5541264"/>
            <a:ext cx="2139696" cy="457200"/>
          </a:xfrm>
          <a:prstGeom prst="rect">
            <a:avLst/>
          </a:prstGeom>
          <a:noFill/>
          <a:ln/>
        </p:spPr>
        <p:txBody>
          <a:bodyPr wrap="square" lIns="0" tIns="0" rIns="0" bIns="0" rtlCol="0" anchor="ctr"/>
          <a:lstStyle/>
          <a:p>
            <a:pPr indent="0" marL="0">
              <a:lnSpc>
                <a:spcPts val="1400"/>
              </a:lnSpc>
              <a:buNone/>
            </a:pPr>
            <a:r>
              <a:rPr lang="en-US" sz="1050" dirty="0">
                <a:solidFill>
                  <a:srgbClr val="5D5470"/>
                </a:solidFill>
                <a:latin typeface="Calibri" pitchFamily="34" charset="0"/>
                <a:ea typeface="Calibri" pitchFamily="34" charset="-122"/>
                <a:cs typeface="Calibri" pitchFamily="34" charset="-120"/>
              </a:rPr>
              <a:t>Show diameter &amp; highlight path</a:t>
            </a:r>
            <a:endParaRPr lang="en-US" sz="1050" dirty="0"/>
          </a:p>
        </p:txBody>
      </p:sp>
      <p:pic>
        <p:nvPicPr>
          <p:cNvPr id="54" name="Picture 53" descr="KLU_Logo_Exact.png"/>
          <p:cNvPicPr>
            <a:picLocks noChangeAspect="1"/>
          </p:cNvPicPr>
          <p:nvPr/>
        </p:nvPicPr>
        <p:blipFill>
          <a:blip r:embed="rId3"/>
          <a:stretch>
            <a:fillRect/>
          </a:stretch>
        </p:blipFill>
        <p:spPr>
          <a:xfrm>
            <a:off x="73152" y="73152"/>
            <a:ext cx="1325880" cy="6292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7315200" cy="256032"/>
          </a:xfrm>
          <a:prstGeom prst="rect">
            <a:avLst/>
          </a:prstGeom>
          <a:noFill/>
          <a:ln/>
        </p:spPr>
        <p:txBody>
          <a:bodyPr wrap="square" lIns="0" tIns="0" rIns="0" bIns="0" rtlCol="0" anchor="ctr"/>
          <a:lstStyle/>
          <a:p>
            <a:pPr indent="0" marL="0">
              <a:buNone/>
            </a:pPr>
            <a:r>
              <a:rPr lang="en-US" sz="1150" b="1" spc="250" kern="0" dirty="0">
                <a:solidFill>
                  <a:srgbClr val="6A3FBF"/>
                </a:solidFill>
                <a:latin typeface="Calibri" pitchFamily="34" charset="0"/>
                <a:ea typeface="Calibri" pitchFamily="34" charset="-122"/>
                <a:cs typeface="Calibri" pitchFamily="34" charset="-120"/>
              </a:rPr>
              <a:t>SLIDE 04</a:t>
            </a:r>
            <a:endParaRPr lang="en-US" sz="1150" dirty="0"/>
          </a:p>
        </p:txBody>
      </p:sp>
      <p:sp>
        <p:nvSpPr>
          <p:cNvPr id="3" name="Text 1"/>
          <p:cNvSpPr/>
          <p:nvPr/>
        </p:nvSpPr>
        <p:spPr>
          <a:xfrm>
            <a:off x="685800" y="640080"/>
            <a:ext cx="9601200" cy="566928"/>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Proposed Functionalities</a:t>
            </a:r>
            <a:endParaRPr lang="en-US" sz="3400" dirty="0"/>
          </a:p>
        </p:txBody>
      </p:sp>
      <p:sp>
        <p:nvSpPr>
          <p:cNvPr id="7" name="Shape 5"/>
          <p:cNvSpPr/>
          <p:nvPr/>
        </p:nvSpPr>
        <p:spPr>
          <a:xfrm>
            <a:off x="11521440" y="795528"/>
            <a:ext cx="164592" cy="164592"/>
          </a:xfrm>
          <a:prstGeom prst="ellipse">
            <a:avLst/>
          </a:prstGeom>
          <a:solidFill>
            <a:srgbClr val="D6CCE8"/>
          </a:solidFill>
          <a:ln w="12700">
            <a:solidFill>
              <a:srgbClr val="D6CCE8"/>
            </a:solidFill>
            <a:prstDash val="solid"/>
          </a:ln>
        </p:spPr>
      </p:sp>
      <p:sp>
        <p:nvSpPr>
          <p:cNvPr id="8" name="Shape 6"/>
          <p:cNvSpPr/>
          <p:nvPr/>
        </p:nvSpPr>
        <p:spPr>
          <a:xfrm>
            <a:off x="11100816" y="795528"/>
            <a:ext cx="164592" cy="164592"/>
          </a:xfrm>
          <a:prstGeom prst="ellipse">
            <a:avLst/>
          </a:prstGeom>
          <a:solidFill>
            <a:srgbClr val="D6CCE8"/>
          </a:solidFill>
          <a:ln w="12700">
            <a:solidFill>
              <a:srgbClr val="D6CCE8"/>
            </a:solidFill>
            <a:prstDash val="solid"/>
          </a:ln>
        </p:spPr>
      </p:sp>
      <p:sp>
        <p:nvSpPr>
          <p:cNvPr id="9" name="Shape 7"/>
          <p:cNvSpPr/>
          <p:nvPr/>
        </p:nvSpPr>
        <p:spPr>
          <a:xfrm>
            <a:off x="685800" y="1572768"/>
            <a:ext cx="3538728" cy="2121408"/>
          </a:xfrm>
          <a:prstGeom prst="roundRect">
            <a:avLst>
              <a:gd name="adj" fmla="val 3017"/>
            </a:avLst>
          </a:prstGeom>
          <a:solidFill>
            <a:srgbClr val="FAF8FE"/>
          </a:solidFill>
          <a:ln w="12700">
            <a:solidFill>
              <a:srgbClr val="E5DEF5"/>
            </a:solidFill>
            <a:prstDash val="solid"/>
          </a:ln>
        </p:spPr>
      </p:sp>
      <p:sp>
        <p:nvSpPr>
          <p:cNvPr id="10" name="Shape 8"/>
          <p:cNvSpPr/>
          <p:nvPr/>
        </p:nvSpPr>
        <p:spPr>
          <a:xfrm>
            <a:off x="978408" y="1865376"/>
            <a:ext cx="475488" cy="475488"/>
          </a:xfrm>
          <a:prstGeom prst="ellipse">
            <a:avLst/>
          </a:prstGeom>
          <a:solidFill>
            <a:srgbClr val="3D2569"/>
          </a:solidFill>
          <a:ln w="12700">
            <a:solidFill>
              <a:srgbClr val="3D2569"/>
            </a:solidFill>
            <a:prstDash val="solid"/>
          </a:ln>
        </p:spPr>
      </p:sp>
      <p:sp>
        <p:nvSpPr>
          <p:cNvPr id="11" name="Text 9"/>
          <p:cNvSpPr/>
          <p:nvPr/>
        </p:nvSpPr>
        <p:spPr>
          <a:xfrm>
            <a:off x="978408" y="186537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01</a:t>
            </a:r>
            <a:endParaRPr lang="en-US" sz="1250" dirty="0"/>
          </a:p>
        </p:txBody>
      </p:sp>
      <p:sp>
        <p:nvSpPr>
          <p:cNvPr id="12" name="Text 10"/>
          <p:cNvSpPr/>
          <p:nvPr/>
        </p:nvSpPr>
        <p:spPr>
          <a:xfrm>
            <a:off x="978408" y="2487168"/>
            <a:ext cx="2953512" cy="347472"/>
          </a:xfrm>
          <a:prstGeom prst="rect">
            <a:avLst/>
          </a:prstGeom>
          <a:noFill/>
          <a:ln/>
        </p:spPr>
        <p:txBody>
          <a:bodyPr wrap="square" lIns="0" tIns="0" rIns="0" bIns="0" rtlCol="0" anchor="ctr"/>
          <a:lstStyle/>
          <a:p>
            <a:pPr indent="0" marL="0">
              <a:buNone/>
            </a:pPr>
            <a:r>
              <a:rPr lang="en-US" sz="1700" b="1" dirty="0">
                <a:solidFill>
                  <a:srgbClr val="3D2569"/>
                </a:solidFill>
                <a:latin typeface="Cambria" pitchFamily="34" charset="0"/>
                <a:ea typeface="Cambria" pitchFamily="34" charset="-122"/>
                <a:cs typeface="Cambria" pitchFamily="34" charset="-120"/>
              </a:rPr>
              <a:t>Tree Input</a:t>
            </a:r>
            <a:endParaRPr lang="en-US" sz="1700" dirty="0"/>
          </a:p>
        </p:txBody>
      </p:sp>
      <p:sp>
        <p:nvSpPr>
          <p:cNvPr id="13" name="Text 11"/>
          <p:cNvSpPr/>
          <p:nvPr/>
        </p:nvSpPr>
        <p:spPr>
          <a:xfrm>
            <a:off x="978408" y="2871216"/>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Allow users to enter the nodes and edges of the tree.</a:t>
            </a:r>
            <a:endParaRPr lang="en-US" sz="1200" dirty="0"/>
          </a:p>
        </p:txBody>
      </p:sp>
      <p:sp>
        <p:nvSpPr>
          <p:cNvPr id="14" name="Shape 12"/>
          <p:cNvSpPr/>
          <p:nvPr/>
        </p:nvSpPr>
        <p:spPr>
          <a:xfrm>
            <a:off x="4443984" y="1572768"/>
            <a:ext cx="3538728" cy="2121408"/>
          </a:xfrm>
          <a:prstGeom prst="roundRect">
            <a:avLst>
              <a:gd name="adj" fmla="val 3017"/>
            </a:avLst>
          </a:prstGeom>
          <a:solidFill>
            <a:srgbClr val="FAF8FE"/>
          </a:solidFill>
          <a:ln w="12700">
            <a:solidFill>
              <a:srgbClr val="E5DEF5"/>
            </a:solidFill>
            <a:prstDash val="solid"/>
          </a:ln>
        </p:spPr>
      </p:sp>
      <p:sp>
        <p:nvSpPr>
          <p:cNvPr id="15" name="Shape 13"/>
          <p:cNvSpPr/>
          <p:nvPr/>
        </p:nvSpPr>
        <p:spPr>
          <a:xfrm>
            <a:off x="4736592" y="1865376"/>
            <a:ext cx="475488" cy="475488"/>
          </a:xfrm>
          <a:prstGeom prst="ellipse">
            <a:avLst/>
          </a:prstGeom>
          <a:solidFill>
            <a:srgbClr val="3D2569"/>
          </a:solidFill>
          <a:ln w="12700">
            <a:solidFill>
              <a:srgbClr val="3D2569"/>
            </a:solidFill>
            <a:prstDash val="solid"/>
          </a:ln>
        </p:spPr>
      </p:sp>
      <p:sp>
        <p:nvSpPr>
          <p:cNvPr id="16" name="Text 14"/>
          <p:cNvSpPr/>
          <p:nvPr/>
        </p:nvSpPr>
        <p:spPr>
          <a:xfrm>
            <a:off x="4736592" y="186537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02</a:t>
            </a:r>
            <a:endParaRPr lang="en-US" sz="1250" dirty="0"/>
          </a:p>
        </p:txBody>
      </p:sp>
      <p:sp>
        <p:nvSpPr>
          <p:cNvPr id="17" name="Text 15"/>
          <p:cNvSpPr/>
          <p:nvPr/>
        </p:nvSpPr>
        <p:spPr>
          <a:xfrm>
            <a:off x="4736592" y="2487168"/>
            <a:ext cx="2953512" cy="347472"/>
          </a:xfrm>
          <a:prstGeom prst="rect">
            <a:avLst/>
          </a:prstGeom>
          <a:noFill/>
          <a:ln/>
        </p:spPr>
        <p:txBody>
          <a:bodyPr wrap="square" lIns="0" tIns="0" rIns="0" bIns="0" rtlCol="0" anchor="ctr"/>
          <a:lstStyle/>
          <a:p>
            <a:pPr indent="0" marL="0">
              <a:buNone/>
            </a:pPr>
            <a:r>
              <a:rPr lang="en-US" sz="1700" b="1" dirty="0">
                <a:solidFill>
                  <a:srgbClr val="3D2569"/>
                </a:solidFill>
                <a:latin typeface="Cambria" pitchFamily="34" charset="0"/>
                <a:ea typeface="Cambria" pitchFamily="34" charset="-122"/>
                <a:cs typeface="Cambria" pitchFamily="34" charset="-120"/>
              </a:rPr>
              <a:t>Tree Visualization</a:t>
            </a:r>
            <a:endParaRPr lang="en-US" sz="1700" dirty="0"/>
          </a:p>
        </p:txBody>
      </p:sp>
      <p:sp>
        <p:nvSpPr>
          <p:cNvPr id="18" name="Text 16"/>
          <p:cNvSpPr/>
          <p:nvPr/>
        </p:nvSpPr>
        <p:spPr>
          <a:xfrm>
            <a:off x="4736592" y="2871216"/>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Construct and display the tree based on the given input.</a:t>
            </a:r>
            <a:endParaRPr lang="en-US" sz="1200" dirty="0"/>
          </a:p>
        </p:txBody>
      </p:sp>
      <p:sp>
        <p:nvSpPr>
          <p:cNvPr id="19" name="Shape 17"/>
          <p:cNvSpPr/>
          <p:nvPr/>
        </p:nvSpPr>
        <p:spPr>
          <a:xfrm>
            <a:off x="8202168" y="1572768"/>
            <a:ext cx="3538728" cy="2121408"/>
          </a:xfrm>
          <a:prstGeom prst="roundRect">
            <a:avLst>
              <a:gd name="adj" fmla="val 3017"/>
            </a:avLst>
          </a:prstGeom>
          <a:solidFill>
            <a:srgbClr val="3D2569"/>
          </a:solidFill>
          <a:ln w="12700">
            <a:solidFill>
              <a:srgbClr val="3D2569"/>
            </a:solidFill>
            <a:prstDash val="solid"/>
          </a:ln>
        </p:spPr>
      </p:sp>
      <p:sp>
        <p:nvSpPr>
          <p:cNvPr id="20" name="Shape 18"/>
          <p:cNvSpPr/>
          <p:nvPr/>
        </p:nvSpPr>
        <p:spPr>
          <a:xfrm>
            <a:off x="8494776" y="1865376"/>
            <a:ext cx="475488" cy="475488"/>
          </a:xfrm>
          <a:prstGeom prst="ellipse">
            <a:avLst/>
          </a:prstGeom>
          <a:solidFill>
            <a:srgbClr val="CBEF4F"/>
          </a:solidFill>
          <a:ln w="12700">
            <a:solidFill>
              <a:srgbClr val="CBEF4F"/>
            </a:solidFill>
            <a:prstDash val="solid"/>
          </a:ln>
        </p:spPr>
      </p:sp>
      <p:sp>
        <p:nvSpPr>
          <p:cNvPr id="21" name="Text 19"/>
          <p:cNvSpPr/>
          <p:nvPr/>
        </p:nvSpPr>
        <p:spPr>
          <a:xfrm>
            <a:off x="8494776" y="1865376"/>
            <a:ext cx="475488" cy="475488"/>
          </a:xfrm>
          <a:prstGeom prst="rect">
            <a:avLst/>
          </a:prstGeom>
          <a:noFill/>
          <a:ln/>
        </p:spPr>
        <p:txBody>
          <a:bodyPr wrap="square" lIns="0" tIns="0" rIns="0" bIns="0" rtlCol="0" anchor="ctr"/>
          <a:lstStyle/>
          <a:p>
            <a:pPr algn="ctr" indent="0" marL="0">
              <a:buNone/>
            </a:pPr>
            <a:r>
              <a:rPr lang="en-US" sz="1250" b="1" dirty="0">
                <a:solidFill>
                  <a:srgbClr val="1C1030"/>
                </a:solidFill>
                <a:latin typeface="Calibri" pitchFamily="34" charset="0"/>
                <a:ea typeface="Calibri" pitchFamily="34" charset="-122"/>
                <a:cs typeface="Calibri" pitchFamily="34" charset="-120"/>
              </a:rPr>
              <a:t>03</a:t>
            </a:r>
            <a:endParaRPr lang="en-US" sz="1250" dirty="0"/>
          </a:p>
        </p:txBody>
      </p:sp>
      <p:sp>
        <p:nvSpPr>
          <p:cNvPr id="22" name="Text 20"/>
          <p:cNvSpPr/>
          <p:nvPr/>
        </p:nvSpPr>
        <p:spPr>
          <a:xfrm>
            <a:off x="8494776" y="2487168"/>
            <a:ext cx="2953512"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Diameter Computation</a:t>
            </a:r>
            <a:endParaRPr lang="en-US" sz="1700" dirty="0"/>
          </a:p>
        </p:txBody>
      </p:sp>
      <p:sp>
        <p:nvSpPr>
          <p:cNvPr id="23" name="Text 21"/>
          <p:cNvSpPr/>
          <p:nvPr/>
        </p:nvSpPr>
        <p:spPr>
          <a:xfrm>
            <a:off x="8494776" y="2871216"/>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C3B5DD"/>
                </a:solidFill>
                <a:latin typeface="Calibri" pitchFamily="34" charset="0"/>
                <a:ea typeface="Calibri" pitchFamily="34" charset="-122"/>
                <a:cs typeface="Calibri" pitchFamily="34" charset="-120"/>
              </a:rPr>
              <a:t>Use a dynamic programming approach to find the longest path between any two nodes.</a:t>
            </a:r>
            <a:endParaRPr lang="en-US" sz="1200" dirty="0"/>
          </a:p>
        </p:txBody>
      </p:sp>
      <p:sp>
        <p:nvSpPr>
          <p:cNvPr id="24" name="Shape 22"/>
          <p:cNvSpPr/>
          <p:nvPr/>
        </p:nvSpPr>
        <p:spPr>
          <a:xfrm>
            <a:off x="685800" y="3931920"/>
            <a:ext cx="3538728" cy="2121408"/>
          </a:xfrm>
          <a:prstGeom prst="roundRect">
            <a:avLst>
              <a:gd name="adj" fmla="val 3017"/>
            </a:avLst>
          </a:prstGeom>
          <a:solidFill>
            <a:srgbClr val="FAF8FE"/>
          </a:solidFill>
          <a:ln w="12700">
            <a:solidFill>
              <a:srgbClr val="E5DEF5"/>
            </a:solidFill>
            <a:prstDash val="solid"/>
          </a:ln>
        </p:spPr>
      </p:sp>
      <p:sp>
        <p:nvSpPr>
          <p:cNvPr id="25" name="Shape 23"/>
          <p:cNvSpPr/>
          <p:nvPr/>
        </p:nvSpPr>
        <p:spPr>
          <a:xfrm>
            <a:off x="978408" y="4224528"/>
            <a:ext cx="475488" cy="475488"/>
          </a:xfrm>
          <a:prstGeom prst="ellipse">
            <a:avLst/>
          </a:prstGeom>
          <a:solidFill>
            <a:srgbClr val="3D2569"/>
          </a:solidFill>
          <a:ln w="12700">
            <a:solidFill>
              <a:srgbClr val="3D2569"/>
            </a:solidFill>
            <a:prstDash val="solid"/>
          </a:ln>
        </p:spPr>
      </p:sp>
      <p:sp>
        <p:nvSpPr>
          <p:cNvPr id="26" name="Text 24"/>
          <p:cNvSpPr/>
          <p:nvPr/>
        </p:nvSpPr>
        <p:spPr>
          <a:xfrm>
            <a:off x="978408" y="422452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04</a:t>
            </a:r>
            <a:endParaRPr lang="en-US" sz="1250" dirty="0"/>
          </a:p>
        </p:txBody>
      </p:sp>
      <p:sp>
        <p:nvSpPr>
          <p:cNvPr id="27" name="Text 25"/>
          <p:cNvSpPr/>
          <p:nvPr/>
        </p:nvSpPr>
        <p:spPr>
          <a:xfrm>
            <a:off x="978408" y="4846320"/>
            <a:ext cx="2953512" cy="347472"/>
          </a:xfrm>
          <a:prstGeom prst="rect">
            <a:avLst/>
          </a:prstGeom>
          <a:noFill/>
          <a:ln/>
        </p:spPr>
        <p:txBody>
          <a:bodyPr wrap="square" lIns="0" tIns="0" rIns="0" bIns="0" rtlCol="0" anchor="ctr"/>
          <a:lstStyle/>
          <a:p>
            <a:pPr indent="0" marL="0">
              <a:buNone/>
            </a:pPr>
            <a:r>
              <a:rPr lang="en-US" sz="1700" b="1" dirty="0">
                <a:solidFill>
                  <a:srgbClr val="3D2569"/>
                </a:solidFill>
                <a:latin typeface="Cambria" pitchFamily="34" charset="0"/>
                <a:ea typeface="Cambria" pitchFamily="34" charset="-122"/>
                <a:cs typeface="Cambria" pitchFamily="34" charset="-120"/>
              </a:rPr>
              <a:t>Path Highlighting</a:t>
            </a:r>
            <a:endParaRPr lang="en-US" sz="1700" dirty="0"/>
          </a:p>
        </p:txBody>
      </p:sp>
      <p:sp>
        <p:nvSpPr>
          <p:cNvPr id="28" name="Text 26"/>
          <p:cNvSpPr/>
          <p:nvPr/>
        </p:nvSpPr>
        <p:spPr>
          <a:xfrm>
            <a:off x="978408" y="5230368"/>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Highlight the nodes and edges that form the diameter path.</a:t>
            </a:r>
            <a:endParaRPr lang="en-US" sz="1200" dirty="0"/>
          </a:p>
        </p:txBody>
      </p:sp>
      <p:sp>
        <p:nvSpPr>
          <p:cNvPr id="29" name="Shape 27"/>
          <p:cNvSpPr/>
          <p:nvPr/>
        </p:nvSpPr>
        <p:spPr>
          <a:xfrm>
            <a:off x="4443984" y="3931920"/>
            <a:ext cx="3538728" cy="2121408"/>
          </a:xfrm>
          <a:prstGeom prst="roundRect">
            <a:avLst>
              <a:gd name="adj" fmla="val 3017"/>
            </a:avLst>
          </a:prstGeom>
          <a:solidFill>
            <a:srgbClr val="FAF8FE"/>
          </a:solidFill>
          <a:ln w="12700">
            <a:solidFill>
              <a:srgbClr val="E5DEF5"/>
            </a:solidFill>
            <a:prstDash val="solid"/>
          </a:ln>
        </p:spPr>
      </p:sp>
      <p:sp>
        <p:nvSpPr>
          <p:cNvPr id="30" name="Shape 28"/>
          <p:cNvSpPr/>
          <p:nvPr/>
        </p:nvSpPr>
        <p:spPr>
          <a:xfrm>
            <a:off x="4736592" y="4224528"/>
            <a:ext cx="475488" cy="475488"/>
          </a:xfrm>
          <a:prstGeom prst="ellipse">
            <a:avLst/>
          </a:prstGeom>
          <a:solidFill>
            <a:srgbClr val="3D2569"/>
          </a:solidFill>
          <a:ln w="12700">
            <a:solidFill>
              <a:srgbClr val="3D2569"/>
            </a:solidFill>
            <a:prstDash val="solid"/>
          </a:ln>
        </p:spPr>
      </p:sp>
      <p:sp>
        <p:nvSpPr>
          <p:cNvPr id="31" name="Text 29"/>
          <p:cNvSpPr/>
          <p:nvPr/>
        </p:nvSpPr>
        <p:spPr>
          <a:xfrm>
            <a:off x="4736592" y="422452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05</a:t>
            </a:r>
            <a:endParaRPr lang="en-US" sz="1250" dirty="0"/>
          </a:p>
        </p:txBody>
      </p:sp>
      <p:sp>
        <p:nvSpPr>
          <p:cNvPr id="32" name="Text 30"/>
          <p:cNvSpPr/>
          <p:nvPr/>
        </p:nvSpPr>
        <p:spPr>
          <a:xfrm>
            <a:off x="4736592" y="4846320"/>
            <a:ext cx="2953512" cy="347472"/>
          </a:xfrm>
          <a:prstGeom prst="rect">
            <a:avLst/>
          </a:prstGeom>
          <a:noFill/>
          <a:ln/>
        </p:spPr>
        <p:txBody>
          <a:bodyPr wrap="square" lIns="0" tIns="0" rIns="0" bIns="0" rtlCol="0" anchor="ctr"/>
          <a:lstStyle/>
          <a:p>
            <a:pPr indent="0" marL="0">
              <a:buNone/>
            </a:pPr>
            <a:r>
              <a:rPr lang="en-US" sz="1700" b="1" dirty="0">
                <a:solidFill>
                  <a:srgbClr val="3D2569"/>
                </a:solidFill>
                <a:latin typeface="Cambria" pitchFamily="34" charset="0"/>
                <a:ea typeface="Cambria" pitchFamily="34" charset="-122"/>
                <a:cs typeface="Cambria" pitchFamily="34" charset="-120"/>
              </a:rPr>
              <a:t>Result Display</a:t>
            </a:r>
            <a:endParaRPr lang="en-US" sz="1700" dirty="0"/>
          </a:p>
        </p:txBody>
      </p:sp>
      <p:sp>
        <p:nvSpPr>
          <p:cNvPr id="33" name="Text 31"/>
          <p:cNvSpPr/>
          <p:nvPr/>
        </p:nvSpPr>
        <p:spPr>
          <a:xfrm>
            <a:off x="4736592" y="5230368"/>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Display the diameter length and the corresponding longest path.</a:t>
            </a:r>
            <a:endParaRPr lang="en-US" sz="1200" dirty="0"/>
          </a:p>
        </p:txBody>
      </p:sp>
      <p:sp>
        <p:nvSpPr>
          <p:cNvPr id="34" name="Shape 32"/>
          <p:cNvSpPr/>
          <p:nvPr/>
        </p:nvSpPr>
        <p:spPr>
          <a:xfrm>
            <a:off x="8202168" y="3931920"/>
            <a:ext cx="3538728" cy="2121408"/>
          </a:xfrm>
          <a:prstGeom prst="roundRect">
            <a:avLst>
              <a:gd name="adj" fmla="val 3017"/>
            </a:avLst>
          </a:prstGeom>
          <a:solidFill>
            <a:srgbClr val="FAF8FE"/>
          </a:solidFill>
          <a:ln w="12700">
            <a:solidFill>
              <a:srgbClr val="E5DEF5"/>
            </a:solidFill>
            <a:prstDash val="solid"/>
          </a:ln>
        </p:spPr>
      </p:sp>
      <p:sp>
        <p:nvSpPr>
          <p:cNvPr id="35" name="Shape 33"/>
          <p:cNvSpPr/>
          <p:nvPr/>
        </p:nvSpPr>
        <p:spPr>
          <a:xfrm>
            <a:off x="8494776" y="4224528"/>
            <a:ext cx="475488" cy="475488"/>
          </a:xfrm>
          <a:prstGeom prst="ellipse">
            <a:avLst/>
          </a:prstGeom>
          <a:solidFill>
            <a:srgbClr val="3D2569"/>
          </a:solidFill>
          <a:ln w="12700">
            <a:solidFill>
              <a:srgbClr val="3D2569"/>
            </a:solidFill>
            <a:prstDash val="solid"/>
          </a:ln>
        </p:spPr>
      </p:sp>
      <p:sp>
        <p:nvSpPr>
          <p:cNvPr id="36" name="Text 34"/>
          <p:cNvSpPr/>
          <p:nvPr/>
        </p:nvSpPr>
        <p:spPr>
          <a:xfrm>
            <a:off x="8494776" y="422452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06</a:t>
            </a:r>
            <a:endParaRPr lang="en-US" sz="1250" dirty="0"/>
          </a:p>
        </p:txBody>
      </p:sp>
      <p:sp>
        <p:nvSpPr>
          <p:cNvPr id="37" name="Text 35"/>
          <p:cNvSpPr/>
          <p:nvPr/>
        </p:nvSpPr>
        <p:spPr>
          <a:xfrm>
            <a:off x="8494776" y="4846320"/>
            <a:ext cx="2953512" cy="347472"/>
          </a:xfrm>
          <a:prstGeom prst="rect">
            <a:avLst/>
          </a:prstGeom>
          <a:noFill/>
          <a:ln/>
        </p:spPr>
        <p:txBody>
          <a:bodyPr wrap="square" lIns="0" tIns="0" rIns="0" bIns="0" rtlCol="0" anchor="ctr"/>
          <a:lstStyle/>
          <a:p>
            <a:pPr indent="0" marL="0">
              <a:buNone/>
            </a:pPr>
            <a:r>
              <a:rPr lang="en-US" sz="1700" b="1" dirty="0">
                <a:solidFill>
                  <a:srgbClr val="3D2569"/>
                </a:solidFill>
                <a:latin typeface="Cambria" pitchFamily="34" charset="0"/>
                <a:ea typeface="Cambria" pitchFamily="34" charset="-122"/>
                <a:cs typeface="Cambria" pitchFamily="34" charset="-120"/>
              </a:rPr>
              <a:t>Input Validation</a:t>
            </a:r>
            <a:endParaRPr lang="en-US" sz="1700" dirty="0"/>
          </a:p>
        </p:txBody>
      </p:sp>
      <p:sp>
        <p:nvSpPr>
          <p:cNvPr id="38" name="Text 36"/>
          <p:cNvSpPr/>
          <p:nvPr/>
        </p:nvSpPr>
        <p:spPr>
          <a:xfrm>
            <a:off x="8494776" y="5230368"/>
            <a:ext cx="2953512" cy="658368"/>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Validate the tree structure and support trees with up to 1000 nodes.</a:t>
            </a:r>
            <a:endParaRPr lang="en-US" sz="1200" dirty="0"/>
          </a:p>
        </p:txBody>
      </p:sp>
      <p:pic>
        <p:nvPicPr>
          <p:cNvPr id="39" name="Picture 38" descr="KLU_Logo_Exact.png"/>
          <p:cNvPicPr>
            <a:picLocks noChangeAspect="1"/>
          </p:cNvPicPr>
          <p:nvPr/>
        </p:nvPicPr>
        <p:blipFill>
          <a:blip r:embed="rId3"/>
          <a:stretch>
            <a:fillRect/>
          </a:stretch>
        </p:blipFill>
        <p:spPr>
          <a:xfrm>
            <a:off x="73152" y="73152"/>
            <a:ext cx="1325880" cy="6292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7315200" cy="256032"/>
          </a:xfrm>
          <a:prstGeom prst="rect">
            <a:avLst/>
          </a:prstGeom>
          <a:noFill/>
          <a:ln/>
        </p:spPr>
        <p:txBody>
          <a:bodyPr wrap="square" lIns="0" tIns="0" rIns="0" bIns="0" rtlCol="0" anchor="ctr"/>
          <a:lstStyle/>
          <a:p>
            <a:pPr indent="0" marL="0">
              <a:buNone/>
            </a:pPr>
            <a:r>
              <a:rPr lang="en-US" sz="1150" b="1" spc="250" kern="0" dirty="0">
                <a:solidFill>
                  <a:srgbClr val="6A3FBF"/>
                </a:solidFill>
                <a:latin typeface="Calibri" pitchFamily="34" charset="0"/>
                <a:ea typeface="Calibri" pitchFamily="34" charset="-122"/>
                <a:cs typeface="Calibri" pitchFamily="34" charset="-120"/>
              </a:rPr>
              <a:t>SLIDE 05</a:t>
            </a:r>
            <a:endParaRPr lang="en-US" sz="1150" dirty="0"/>
          </a:p>
        </p:txBody>
      </p:sp>
      <p:sp>
        <p:nvSpPr>
          <p:cNvPr id="3" name="Text 1"/>
          <p:cNvSpPr/>
          <p:nvPr/>
        </p:nvSpPr>
        <p:spPr>
          <a:xfrm>
            <a:off x="685800" y="640080"/>
            <a:ext cx="9601200" cy="566928"/>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Tools and Technologies</a:t>
            </a:r>
            <a:endParaRPr lang="en-US" sz="3400" dirty="0"/>
          </a:p>
        </p:txBody>
      </p:sp>
      <p:sp>
        <p:nvSpPr>
          <p:cNvPr id="7" name="Shape 5"/>
          <p:cNvSpPr/>
          <p:nvPr/>
        </p:nvSpPr>
        <p:spPr>
          <a:xfrm>
            <a:off x="11521440" y="795528"/>
            <a:ext cx="164592" cy="164592"/>
          </a:xfrm>
          <a:prstGeom prst="ellipse">
            <a:avLst/>
          </a:prstGeom>
          <a:solidFill>
            <a:srgbClr val="D6CCE8"/>
          </a:solidFill>
          <a:ln w="12700">
            <a:solidFill>
              <a:srgbClr val="D6CCE8"/>
            </a:solidFill>
            <a:prstDash val="solid"/>
          </a:ln>
        </p:spPr>
      </p:sp>
      <p:sp>
        <p:nvSpPr>
          <p:cNvPr id="8" name="Shape 6"/>
          <p:cNvSpPr/>
          <p:nvPr/>
        </p:nvSpPr>
        <p:spPr>
          <a:xfrm>
            <a:off x="11100816" y="795528"/>
            <a:ext cx="164592" cy="164592"/>
          </a:xfrm>
          <a:prstGeom prst="ellipse">
            <a:avLst/>
          </a:prstGeom>
          <a:solidFill>
            <a:srgbClr val="D6CCE8"/>
          </a:solidFill>
          <a:ln w="12700">
            <a:solidFill>
              <a:srgbClr val="D6CCE8"/>
            </a:solidFill>
            <a:prstDash val="solid"/>
          </a:ln>
        </p:spPr>
      </p:sp>
      <p:sp>
        <p:nvSpPr>
          <p:cNvPr id="9" name="Text 7"/>
          <p:cNvSpPr/>
          <p:nvPr/>
        </p:nvSpPr>
        <p:spPr>
          <a:xfrm>
            <a:off x="941832" y="1627632"/>
            <a:ext cx="2606040" cy="274320"/>
          </a:xfrm>
          <a:prstGeom prst="rect">
            <a:avLst/>
          </a:prstGeom>
          <a:noFill/>
          <a:ln/>
        </p:spPr>
        <p:txBody>
          <a:bodyPr wrap="square" lIns="0" tIns="0" rIns="0" bIns="0" rtlCol="0" anchor="ctr"/>
          <a:lstStyle/>
          <a:p>
            <a:pPr indent="0" marL="0">
              <a:buNone/>
            </a:pPr>
            <a:r>
              <a:rPr lang="en-US" sz="1050" b="1" spc="200" kern="0" dirty="0">
                <a:solidFill>
                  <a:srgbClr val="6A3FBF"/>
                </a:solidFill>
                <a:latin typeface="Calibri" pitchFamily="34" charset="0"/>
                <a:ea typeface="Calibri" pitchFamily="34" charset="-122"/>
                <a:cs typeface="Calibri" pitchFamily="34" charset="-120"/>
              </a:rPr>
              <a:t>CATEGORY</a:t>
            </a:r>
            <a:endParaRPr lang="en-US" sz="1050" dirty="0"/>
          </a:p>
        </p:txBody>
      </p:sp>
      <p:sp>
        <p:nvSpPr>
          <p:cNvPr id="10" name="Text 8"/>
          <p:cNvSpPr/>
          <p:nvPr/>
        </p:nvSpPr>
        <p:spPr>
          <a:xfrm>
            <a:off x="3547872" y="1627632"/>
            <a:ext cx="2880360" cy="274320"/>
          </a:xfrm>
          <a:prstGeom prst="rect">
            <a:avLst/>
          </a:prstGeom>
          <a:noFill/>
          <a:ln/>
        </p:spPr>
        <p:txBody>
          <a:bodyPr wrap="square" lIns="0" tIns="0" rIns="0" bIns="0" rtlCol="0" anchor="ctr"/>
          <a:lstStyle/>
          <a:p>
            <a:pPr indent="0" marL="0">
              <a:buNone/>
            </a:pPr>
            <a:r>
              <a:rPr lang="en-US" sz="1050" b="1" spc="200" kern="0" dirty="0">
                <a:solidFill>
                  <a:srgbClr val="6A3FBF"/>
                </a:solidFill>
                <a:latin typeface="Calibri" pitchFamily="34" charset="0"/>
                <a:ea typeface="Calibri" pitchFamily="34" charset="-122"/>
                <a:cs typeface="Calibri" pitchFamily="34" charset="-120"/>
              </a:rPr>
              <a:t>TECHNOLOGY</a:t>
            </a:r>
            <a:endParaRPr lang="en-US" sz="1050" dirty="0"/>
          </a:p>
        </p:txBody>
      </p:sp>
      <p:sp>
        <p:nvSpPr>
          <p:cNvPr id="11" name="Text 9"/>
          <p:cNvSpPr/>
          <p:nvPr/>
        </p:nvSpPr>
        <p:spPr>
          <a:xfrm>
            <a:off x="6428232" y="1627632"/>
            <a:ext cx="5303520" cy="274320"/>
          </a:xfrm>
          <a:prstGeom prst="rect">
            <a:avLst/>
          </a:prstGeom>
          <a:noFill/>
          <a:ln/>
        </p:spPr>
        <p:txBody>
          <a:bodyPr wrap="square" lIns="0" tIns="0" rIns="0" bIns="0" rtlCol="0" anchor="ctr"/>
          <a:lstStyle/>
          <a:p>
            <a:pPr indent="0" marL="0">
              <a:buNone/>
            </a:pPr>
            <a:r>
              <a:rPr lang="en-US" sz="1050" b="1" spc="200" kern="0" dirty="0">
                <a:solidFill>
                  <a:srgbClr val="6A3FBF"/>
                </a:solidFill>
                <a:latin typeface="Calibri" pitchFamily="34" charset="0"/>
                <a:ea typeface="Calibri" pitchFamily="34" charset="-122"/>
                <a:cs typeface="Calibri" pitchFamily="34" charset="-120"/>
              </a:rPr>
              <a:t>PURPOSE</a:t>
            </a:r>
            <a:endParaRPr lang="en-US" sz="1050" dirty="0"/>
          </a:p>
        </p:txBody>
      </p:sp>
      <p:sp>
        <p:nvSpPr>
          <p:cNvPr id="12" name="Shape 10"/>
          <p:cNvSpPr/>
          <p:nvPr/>
        </p:nvSpPr>
        <p:spPr>
          <a:xfrm>
            <a:off x="685800" y="2011680"/>
            <a:ext cx="10789920" cy="640080"/>
          </a:xfrm>
          <a:prstGeom prst="roundRect">
            <a:avLst>
              <a:gd name="adj" fmla="val 8571"/>
            </a:avLst>
          </a:prstGeom>
          <a:solidFill>
            <a:srgbClr val="FAF8FE"/>
          </a:solidFill>
          <a:ln w="12700">
            <a:solidFill>
              <a:srgbClr val="EAE3F7"/>
            </a:solidFill>
            <a:prstDash val="solid"/>
          </a:ln>
        </p:spPr>
      </p:sp>
      <p:sp>
        <p:nvSpPr>
          <p:cNvPr id="13" name="Shape 11"/>
          <p:cNvSpPr/>
          <p:nvPr/>
        </p:nvSpPr>
        <p:spPr>
          <a:xfrm>
            <a:off x="960120" y="2276856"/>
            <a:ext cx="128016" cy="128016"/>
          </a:xfrm>
          <a:prstGeom prst="ellipse">
            <a:avLst/>
          </a:prstGeom>
          <a:solidFill>
            <a:srgbClr val="6A3FBF"/>
          </a:solidFill>
          <a:ln w="12700">
            <a:solidFill>
              <a:srgbClr val="6A3FBF"/>
            </a:solidFill>
            <a:prstDash val="solid"/>
          </a:ln>
        </p:spPr>
      </p:sp>
      <p:sp>
        <p:nvSpPr>
          <p:cNvPr id="14" name="Text 12"/>
          <p:cNvSpPr/>
          <p:nvPr/>
        </p:nvSpPr>
        <p:spPr>
          <a:xfrm>
            <a:off x="1216152" y="2157984"/>
            <a:ext cx="2240280" cy="365760"/>
          </a:xfrm>
          <a:prstGeom prst="rect">
            <a:avLst/>
          </a:prstGeom>
          <a:noFill/>
          <a:ln/>
        </p:spPr>
        <p:txBody>
          <a:bodyPr wrap="square" lIns="0" tIns="0" rIns="0" bIns="0" rtlCol="0" anchor="ctr"/>
          <a:lstStyle/>
          <a:p>
            <a:pPr indent="0" marL="0">
              <a:buNone/>
            </a:pPr>
            <a:r>
              <a:rPr lang="en-US" sz="1300" b="1" dirty="0">
                <a:solidFill>
                  <a:srgbClr val="3D2569"/>
                </a:solidFill>
                <a:latin typeface="Calibri" pitchFamily="34" charset="0"/>
                <a:ea typeface="Calibri" pitchFamily="34" charset="-122"/>
                <a:cs typeface="Calibri" pitchFamily="34" charset="-120"/>
              </a:rPr>
              <a:t>Programming Language</a:t>
            </a:r>
            <a:endParaRPr lang="en-US" sz="1300" dirty="0"/>
          </a:p>
        </p:txBody>
      </p:sp>
      <p:sp>
        <p:nvSpPr>
          <p:cNvPr id="15" name="Text 13"/>
          <p:cNvSpPr/>
          <p:nvPr/>
        </p:nvSpPr>
        <p:spPr>
          <a:xfrm>
            <a:off x="3547872" y="2157984"/>
            <a:ext cx="2697480" cy="365760"/>
          </a:xfrm>
          <a:prstGeom prst="rect">
            <a:avLst/>
          </a:prstGeom>
          <a:noFill/>
          <a:ln/>
        </p:spPr>
        <p:txBody>
          <a:bodyPr wrap="square" lIns="0" tIns="0" rIns="0" bIns="0" rtlCol="0" anchor="ctr"/>
          <a:lstStyle/>
          <a:p>
            <a:pPr indent="0" marL="0">
              <a:buNone/>
            </a:pPr>
            <a:r>
              <a:rPr lang="en-US" sz="1300" b="1" dirty="0">
                <a:solidFill>
                  <a:srgbClr val="6A3FBF"/>
                </a:solidFill>
                <a:latin typeface="Calibri" pitchFamily="34" charset="0"/>
                <a:ea typeface="Calibri" pitchFamily="34" charset="-122"/>
                <a:cs typeface="Calibri" pitchFamily="34" charset="-120"/>
              </a:rPr>
              <a:t>Java</a:t>
            </a:r>
            <a:endParaRPr lang="en-US" sz="1300" dirty="0"/>
          </a:p>
        </p:txBody>
      </p:sp>
      <p:sp>
        <p:nvSpPr>
          <p:cNvPr id="16" name="Text 14"/>
          <p:cNvSpPr/>
          <p:nvPr/>
        </p:nvSpPr>
        <p:spPr>
          <a:xfrm>
            <a:off x="6428232" y="2157984"/>
            <a:ext cx="4846320" cy="365760"/>
          </a:xfrm>
          <a:prstGeom prst="rect">
            <a:avLst/>
          </a:prstGeom>
          <a:noFill/>
          <a:ln/>
        </p:spPr>
        <p:txBody>
          <a:bodyPr wrap="square" lIns="0" tIns="0" rIns="0" bIns="0" rtlCol="0" anchor="ctr"/>
          <a:lstStyle/>
          <a:p>
            <a:pPr indent="0" marL="0">
              <a:buNone/>
            </a:pPr>
            <a:r>
              <a:rPr lang="en-US" sz="1250" dirty="0">
                <a:solidFill>
                  <a:srgbClr val="5D5470"/>
                </a:solidFill>
                <a:latin typeface="Calibri" pitchFamily="34" charset="0"/>
                <a:ea typeface="Calibri" pitchFamily="34" charset="-122"/>
                <a:cs typeface="Calibri" pitchFamily="34" charset="-120"/>
              </a:rPr>
              <a:t>Implement tree structure and dynamic programming algorithm</a:t>
            </a:r>
            <a:endParaRPr lang="en-US" sz="1250" dirty="0"/>
          </a:p>
        </p:txBody>
      </p:sp>
      <p:sp>
        <p:nvSpPr>
          <p:cNvPr id="17" name="Shape 15"/>
          <p:cNvSpPr/>
          <p:nvPr/>
        </p:nvSpPr>
        <p:spPr>
          <a:xfrm>
            <a:off x="685800" y="2734056"/>
            <a:ext cx="10789920" cy="640080"/>
          </a:xfrm>
          <a:prstGeom prst="roundRect">
            <a:avLst>
              <a:gd name="adj" fmla="val 8571"/>
            </a:avLst>
          </a:prstGeom>
          <a:solidFill>
            <a:srgbClr val="FFFFFF"/>
          </a:solidFill>
          <a:ln w="12700">
            <a:solidFill>
              <a:srgbClr val="EAE3F7"/>
            </a:solidFill>
            <a:prstDash val="solid"/>
          </a:ln>
        </p:spPr>
      </p:sp>
      <p:sp>
        <p:nvSpPr>
          <p:cNvPr id="18" name="Shape 16"/>
          <p:cNvSpPr/>
          <p:nvPr/>
        </p:nvSpPr>
        <p:spPr>
          <a:xfrm>
            <a:off x="960120" y="2999232"/>
            <a:ext cx="128016" cy="128016"/>
          </a:xfrm>
          <a:prstGeom prst="ellipse">
            <a:avLst/>
          </a:prstGeom>
          <a:solidFill>
            <a:srgbClr val="6A3FBF"/>
          </a:solidFill>
          <a:ln w="12700">
            <a:solidFill>
              <a:srgbClr val="6A3FBF"/>
            </a:solidFill>
            <a:prstDash val="solid"/>
          </a:ln>
        </p:spPr>
      </p:sp>
      <p:sp>
        <p:nvSpPr>
          <p:cNvPr id="19" name="Text 17"/>
          <p:cNvSpPr/>
          <p:nvPr/>
        </p:nvSpPr>
        <p:spPr>
          <a:xfrm>
            <a:off x="1216152" y="2880360"/>
            <a:ext cx="2240280" cy="365760"/>
          </a:xfrm>
          <a:prstGeom prst="rect">
            <a:avLst/>
          </a:prstGeom>
          <a:noFill/>
          <a:ln/>
        </p:spPr>
        <p:txBody>
          <a:bodyPr wrap="square" lIns="0" tIns="0" rIns="0" bIns="0" rtlCol="0" anchor="ctr"/>
          <a:lstStyle/>
          <a:p>
            <a:pPr indent="0" marL="0">
              <a:buNone/>
            </a:pPr>
            <a:r>
              <a:rPr lang="en-US" sz="1300" b="1" dirty="0">
                <a:solidFill>
                  <a:srgbClr val="3D2569"/>
                </a:solidFill>
                <a:latin typeface="Calibri" pitchFamily="34" charset="0"/>
                <a:ea typeface="Calibri" pitchFamily="34" charset="-122"/>
                <a:cs typeface="Calibri" pitchFamily="34" charset="-120"/>
              </a:rPr>
              <a:t>Frontend</a:t>
            </a:r>
            <a:endParaRPr lang="en-US" sz="1300" dirty="0"/>
          </a:p>
        </p:txBody>
      </p:sp>
      <p:sp>
        <p:nvSpPr>
          <p:cNvPr id="20" name="Text 18"/>
          <p:cNvSpPr/>
          <p:nvPr/>
        </p:nvSpPr>
        <p:spPr>
          <a:xfrm>
            <a:off x="3547872" y="2880360"/>
            <a:ext cx="2697480" cy="365760"/>
          </a:xfrm>
          <a:prstGeom prst="rect">
            <a:avLst/>
          </a:prstGeom>
          <a:noFill/>
          <a:ln/>
        </p:spPr>
        <p:txBody>
          <a:bodyPr wrap="square" lIns="0" tIns="0" rIns="0" bIns="0" rtlCol="0" anchor="ctr"/>
          <a:lstStyle/>
          <a:p>
            <a:pPr indent="0" marL="0">
              <a:buNone/>
            </a:pPr>
            <a:r>
              <a:rPr lang="en-US" sz="1300" b="1" dirty="0">
                <a:solidFill>
                  <a:srgbClr val="6A3FBF"/>
                </a:solidFill>
                <a:latin typeface="Calibri" pitchFamily="34" charset="0"/>
                <a:ea typeface="Calibri" pitchFamily="34" charset="-122"/>
                <a:cs typeface="Calibri" pitchFamily="34" charset="-120"/>
              </a:rPr>
              <a:t>HTML, CSS, JavaScript</a:t>
            </a:r>
            <a:endParaRPr lang="en-US" sz="1300" dirty="0"/>
          </a:p>
        </p:txBody>
      </p:sp>
      <p:sp>
        <p:nvSpPr>
          <p:cNvPr id="21" name="Text 19"/>
          <p:cNvSpPr/>
          <p:nvPr/>
        </p:nvSpPr>
        <p:spPr>
          <a:xfrm>
            <a:off x="6428232" y="2880360"/>
            <a:ext cx="4846320" cy="365760"/>
          </a:xfrm>
          <a:prstGeom prst="rect">
            <a:avLst/>
          </a:prstGeom>
          <a:noFill/>
          <a:ln/>
        </p:spPr>
        <p:txBody>
          <a:bodyPr wrap="square" lIns="0" tIns="0" rIns="0" bIns="0" rtlCol="0" anchor="ctr"/>
          <a:lstStyle/>
          <a:p>
            <a:pPr indent="0" marL="0">
              <a:buNone/>
            </a:pPr>
            <a:r>
              <a:rPr lang="en-US" sz="1250" dirty="0">
                <a:solidFill>
                  <a:srgbClr val="5D5470"/>
                </a:solidFill>
                <a:latin typeface="Calibri" pitchFamily="34" charset="0"/>
                <a:ea typeface="Calibri" pitchFamily="34" charset="-122"/>
                <a:cs typeface="Calibri" pitchFamily="34" charset="-120"/>
              </a:rPr>
              <a:t>Create the user interface and tree visualization</a:t>
            </a:r>
            <a:endParaRPr lang="en-US" sz="1250" dirty="0"/>
          </a:p>
        </p:txBody>
      </p:sp>
      <p:sp>
        <p:nvSpPr>
          <p:cNvPr id="22" name="Shape 20"/>
          <p:cNvSpPr/>
          <p:nvPr/>
        </p:nvSpPr>
        <p:spPr>
          <a:xfrm>
            <a:off x="685800" y="3456432"/>
            <a:ext cx="10789920" cy="640080"/>
          </a:xfrm>
          <a:prstGeom prst="roundRect">
            <a:avLst>
              <a:gd name="adj" fmla="val 8571"/>
            </a:avLst>
          </a:prstGeom>
          <a:solidFill>
            <a:srgbClr val="FAF8FE"/>
          </a:solidFill>
          <a:ln w="12700">
            <a:solidFill>
              <a:srgbClr val="EAE3F7"/>
            </a:solidFill>
            <a:prstDash val="solid"/>
          </a:ln>
        </p:spPr>
      </p:sp>
      <p:sp>
        <p:nvSpPr>
          <p:cNvPr id="23" name="Shape 21"/>
          <p:cNvSpPr/>
          <p:nvPr/>
        </p:nvSpPr>
        <p:spPr>
          <a:xfrm>
            <a:off x="960120" y="3721608"/>
            <a:ext cx="128016" cy="128016"/>
          </a:xfrm>
          <a:prstGeom prst="ellipse">
            <a:avLst/>
          </a:prstGeom>
          <a:solidFill>
            <a:srgbClr val="6A3FBF"/>
          </a:solidFill>
          <a:ln w="12700">
            <a:solidFill>
              <a:srgbClr val="6A3FBF"/>
            </a:solidFill>
            <a:prstDash val="solid"/>
          </a:ln>
        </p:spPr>
      </p:sp>
      <p:sp>
        <p:nvSpPr>
          <p:cNvPr id="24" name="Text 22"/>
          <p:cNvSpPr/>
          <p:nvPr/>
        </p:nvSpPr>
        <p:spPr>
          <a:xfrm>
            <a:off x="1216152" y="3602736"/>
            <a:ext cx="2240280" cy="365760"/>
          </a:xfrm>
          <a:prstGeom prst="rect">
            <a:avLst/>
          </a:prstGeom>
          <a:noFill/>
          <a:ln/>
        </p:spPr>
        <p:txBody>
          <a:bodyPr wrap="square" lIns="0" tIns="0" rIns="0" bIns="0" rtlCol="0" anchor="ctr"/>
          <a:lstStyle/>
          <a:p>
            <a:pPr indent="0" marL="0">
              <a:buNone/>
            </a:pPr>
            <a:r>
              <a:rPr lang="en-US" sz="1300" b="1" dirty="0">
                <a:solidFill>
                  <a:srgbClr val="3D2569"/>
                </a:solidFill>
                <a:latin typeface="Calibri" pitchFamily="34" charset="0"/>
                <a:ea typeface="Calibri" pitchFamily="34" charset="-122"/>
                <a:cs typeface="Calibri" pitchFamily="34" charset="-120"/>
              </a:rPr>
              <a:t>Visualization</a:t>
            </a:r>
            <a:endParaRPr lang="en-US" sz="1300" dirty="0"/>
          </a:p>
        </p:txBody>
      </p:sp>
      <p:sp>
        <p:nvSpPr>
          <p:cNvPr id="25" name="Text 23"/>
          <p:cNvSpPr/>
          <p:nvPr/>
        </p:nvSpPr>
        <p:spPr>
          <a:xfrm>
            <a:off x="3547872" y="3602736"/>
            <a:ext cx="2697480" cy="365760"/>
          </a:xfrm>
          <a:prstGeom prst="rect">
            <a:avLst/>
          </a:prstGeom>
          <a:noFill/>
          <a:ln/>
        </p:spPr>
        <p:txBody>
          <a:bodyPr wrap="square" lIns="0" tIns="0" rIns="0" bIns="0" rtlCol="0" anchor="ctr"/>
          <a:lstStyle/>
          <a:p>
            <a:pPr indent="0" marL="0">
              <a:buNone/>
            </a:pPr>
            <a:r>
              <a:rPr lang="en-US" sz="1300" b="1" dirty="0">
                <a:solidFill>
                  <a:srgbClr val="6A3FBF"/>
                </a:solidFill>
                <a:latin typeface="Calibri" pitchFamily="34" charset="0"/>
                <a:ea typeface="Calibri" pitchFamily="34" charset="-122"/>
                <a:cs typeface="Calibri" pitchFamily="34" charset="-120"/>
              </a:rPr>
              <a:t>JavaScript / SVG or Canvas</a:t>
            </a:r>
            <a:endParaRPr lang="en-US" sz="1300" dirty="0"/>
          </a:p>
        </p:txBody>
      </p:sp>
      <p:sp>
        <p:nvSpPr>
          <p:cNvPr id="26" name="Text 24"/>
          <p:cNvSpPr/>
          <p:nvPr/>
        </p:nvSpPr>
        <p:spPr>
          <a:xfrm>
            <a:off x="6428232" y="3602736"/>
            <a:ext cx="4846320" cy="365760"/>
          </a:xfrm>
          <a:prstGeom prst="rect">
            <a:avLst/>
          </a:prstGeom>
          <a:noFill/>
          <a:ln/>
        </p:spPr>
        <p:txBody>
          <a:bodyPr wrap="square" lIns="0" tIns="0" rIns="0" bIns="0" rtlCol="0" anchor="ctr"/>
          <a:lstStyle/>
          <a:p>
            <a:pPr indent="0" marL="0">
              <a:buNone/>
            </a:pPr>
            <a:r>
              <a:rPr lang="en-US" sz="1250" dirty="0">
                <a:solidFill>
                  <a:srgbClr val="5D5470"/>
                </a:solidFill>
                <a:latin typeface="Calibri" pitchFamily="34" charset="0"/>
                <a:ea typeface="Calibri" pitchFamily="34" charset="-122"/>
                <a:cs typeface="Calibri" pitchFamily="34" charset="-120"/>
              </a:rPr>
              <a:t>Display the tree and highlight the diameter path</a:t>
            </a:r>
            <a:endParaRPr lang="en-US" sz="1250" dirty="0"/>
          </a:p>
        </p:txBody>
      </p:sp>
      <p:sp>
        <p:nvSpPr>
          <p:cNvPr id="27" name="Shape 25"/>
          <p:cNvSpPr/>
          <p:nvPr/>
        </p:nvSpPr>
        <p:spPr>
          <a:xfrm>
            <a:off x="685800" y="4178808"/>
            <a:ext cx="10789920" cy="640080"/>
          </a:xfrm>
          <a:prstGeom prst="roundRect">
            <a:avLst>
              <a:gd name="adj" fmla="val 8571"/>
            </a:avLst>
          </a:prstGeom>
          <a:solidFill>
            <a:srgbClr val="FFFFFF"/>
          </a:solidFill>
          <a:ln w="12700">
            <a:solidFill>
              <a:srgbClr val="EAE3F7"/>
            </a:solidFill>
            <a:prstDash val="solid"/>
          </a:ln>
        </p:spPr>
      </p:sp>
      <p:sp>
        <p:nvSpPr>
          <p:cNvPr id="28" name="Shape 26"/>
          <p:cNvSpPr/>
          <p:nvPr/>
        </p:nvSpPr>
        <p:spPr>
          <a:xfrm>
            <a:off x="960120" y="4443984"/>
            <a:ext cx="128016" cy="128016"/>
          </a:xfrm>
          <a:prstGeom prst="ellipse">
            <a:avLst/>
          </a:prstGeom>
          <a:solidFill>
            <a:srgbClr val="6A3FBF"/>
          </a:solidFill>
          <a:ln w="12700">
            <a:solidFill>
              <a:srgbClr val="6A3FBF"/>
            </a:solidFill>
            <a:prstDash val="solid"/>
          </a:ln>
        </p:spPr>
      </p:sp>
      <p:sp>
        <p:nvSpPr>
          <p:cNvPr id="29" name="Text 27"/>
          <p:cNvSpPr/>
          <p:nvPr/>
        </p:nvSpPr>
        <p:spPr>
          <a:xfrm>
            <a:off x="1216152" y="4325112"/>
            <a:ext cx="2240280" cy="365760"/>
          </a:xfrm>
          <a:prstGeom prst="rect">
            <a:avLst/>
          </a:prstGeom>
          <a:noFill/>
          <a:ln/>
        </p:spPr>
        <p:txBody>
          <a:bodyPr wrap="square" lIns="0" tIns="0" rIns="0" bIns="0" rtlCol="0" anchor="ctr"/>
          <a:lstStyle/>
          <a:p>
            <a:pPr indent="0" marL="0">
              <a:buNone/>
            </a:pPr>
            <a:r>
              <a:rPr lang="en-US" sz="1300" b="1" dirty="0">
                <a:solidFill>
                  <a:srgbClr val="3D2569"/>
                </a:solidFill>
                <a:latin typeface="Calibri" pitchFamily="34" charset="0"/>
                <a:ea typeface="Calibri" pitchFamily="34" charset="-122"/>
                <a:cs typeface="Calibri" pitchFamily="34" charset="-120"/>
              </a:rPr>
              <a:t>Development Tool</a:t>
            </a:r>
            <a:endParaRPr lang="en-US" sz="1300" dirty="0"/>
          </a:p>
        </p:txBody>
      </p:sp>
      <p:sp>
        <p:nvSpPr>
          <p:cNvPr id="30" name="Text 28"/>
          <p:cNvSpPr/>
          <p:nvPr/>
        </p:nvSpPr>
        <p:spPr>
          <a:xfrm>
            <a:off x="3547872" y="4325112"/>
            <a:ext cx="2697480" cy="365760"/>
          </a:xfrm>
          <a:prstGeom prst="rect">
            <a:avLst/>
          </a:prstGeom>
          <a:noFill/>
          <a:ln/>
        </p:spPr>
        <p:txBody>
          <a:bodyPr wrap="square" lIns="0" tIns="0" rIns="0" bIns="0" rtlCol="0" anchor="ctr"/>
          <a:lstStyle/>
          <a:p>
            <a:pPr indent="0" marL="0">
              <a:buNone/>
            </a:pPr>
            <a:r>
              <a:rPr lang="en-US" sz="1300" b="1" dirty="0">
                <a:solidFill>
                  <a:srgbClr val="6A3FBF"/>
                </a:solidFill>
                <a:latin typeface="Calibri" pitchFamily="34" charset="0"/>
                <a:ea typeface="Calibri" pitchFamily="34" charset="-122"/>
                <a:cs typeface="Calibri" pitchFamily="34" charset="-120"/>
              </a:rPr>
              <a:t>VS Code</a:t>
            </a:r>
            <a:endParaRPr lang="en-US" sz="1300" dirty="0"/>
          </a:p>
        </p:txBody>
      </p:sp>
      <p:sp>
        <p:nvSpPr>
          <p:cNvPr id="31" name="Text 29"/>
          <p:cNvSpPr/>
          <p:nvPr/>
        </p:nvSpPr>
        <p:spPr>
          <a:xfrm>
            <a:off x="6428232" y="4325112"/>
            <a:ext cx="4846320" cy="365760"/>
          </a:xfrm>
          <a:prstGeom prst="rect">
            <a:avLst/>
          </a:prstGeom>
          <a:noFill/>
          <a:ln/>
        </p:spPr>
        <p:txBody>
          <a:bodyPr wrap="square" lIns="0" tIns="0" rIns="0" bIns="0" rtlCol="0" anchor="ctr"/>
          <a:lstStyle/>
          <a:p>
            <a:pPr indent="0" marL="0">
              <a:buNone/>
            </a:pPr>
            <a:r>
              <a:rPr lang="en-US" sz="1250" dirty="0">
                <a:solidFill>
                  <a:srgbClr val="5D5470"/>
                </a:solidFill>
                <a:latin typeface="Calibri" pitchFamily="34" charset="0"/>
                <a:ea typeface="Calibri" pitchFamily="34" charset="-122"/>
                <a:cs typeface="Calibri" pitchFamily="34" charset="-120"/>
              </a:rPr>
              <a:t>Write and manage the project code</a:t>
            </a:r>
            <a:endParaRPr lang="en-US" sz="1250" dirty="0"/>
          </a:p>
        </p:txBody>
      </p:sp>
      <p:sp>
        <p:nvSpPr>
          <p:cNvPr id="32" name="Shape 30"/>
          <p:cNvSpPr/>
          <p:nvPr/>
        </p:nvSpPr>
        <p:spPr>
          <a:xfrm>
            <a:off x="685800" y="4901184"/>
            <a:ext cx="10789920" cy="640080"/>
          </a:xfrm>
          <a:prstGeom prst="roundRect">
            <a:avLst>
              <a:gd name="adj" fmla="val 8571"/>
            </a:avLst>
          </a:prstGeom>
          <a:solidFill>
            <a:srgbClr val="FAF8FE"/>
          </a:solidFill>
          <a:ln w="12700">
            <a:solidFill>
              <a:srgbClr val="EAE3F7"/>
            </a:solidFill>
            <a:prstDash val="solid"/>
          </a:ln>
        </p:spPr>
      </p:sp>
      <p:sp>
        <p:nvSpPr>
          <p:cNvPr id="33" name="Shape 31"/>
          <p:cNvSpPr/>
          <p:nvPr/>
        </p:nvSpPr>
        <p:spPr>
          <a:xfrm>
            <a:off x="960120" y="5166360"/>
            <a:ext cx="128016" cy="128016"/>
          </a:xfrm>
          <a:prstGeom prst="ellipse">
            <a:avLst/>
          </a:prstGeom>
          <a:solidFill>
            <a:srgbClr val="6A3FBF"/>
          </a:solidFill>
          <a:ln w="12700">
            <a:solidFill>
              <a:srgbClr val="6A3FBF"/>
            </a:solidFill>
            <a:prstDash val="solid"/>
          </a:ln>
        </p:spPr>
      </p:sp>
      <p:sp>
        <p:nvSpPr>
          <p:cNvPr id="34" name="Text 32"/>
          <p:cNvSpPr/>
          <p:nvPr/>
        </p:nvSpPr>
        <p:spPr>
          <a:xfrm>
            <a:off x="1216152" y="5047488"/>
            <a:ext cx="2240280" cy="365760"/>
          </a:xfrm>
          <a:prstGeom prst="rect">
            <a:avLst/>
          </a:prstGeom>
          <a:noFill/>
          <a:ln/>
        </p:spPr>
        <p:txBody>
          <a:bodyPr wrap="square" lIns="0" tIns="0" rIns="0" bIns="0" rtlCol="0" anchor="ctr"/>
          <a:lstStyle/>
          <a:p>
            <a:pPr indent="0" marL="0">
              <a:buNone/>
            </a:pPr>
            <a:r>
              <a:rPr lang="en-US" sz="1300" b="1" dirty="0">
                <a:solidFill>
                  <a:srgbClr val="3D2569"/>
                </a:solidFill>
                <a:latin typeface="Calibri" pitchFamily="34" charset="0"/>
                <a:ea typeface="Calibri" pitchFamily="34" charset="-122"/>
                <a:cs typeface="Calibri" pitchFamily="34" charset="-120"/>
              </a:rPr>
              <a:t>Version Control</a:t>
            </a:r>
            <a:endParaRPr lang="en-US" sz="1300" dirty="0"/>
          </a:p>
        </p:txBody>
      </p:sp>
      <p:sp>
        <p:nvSpPr>
          <p:cNvPr id="35" name="Text 33"/>
          <p:cNvSpPr/>
          <p:nvPr/>
        </p:nvSpPr>
        <p:spPr>
          <a:xfrm>
            <a:off x="3547872" y="5047488"/>
            <a:ext cx="2697480" cy="365760"/>
          </a:xfrm>
          <a:prstGeom prst="rect">
            <a:avLst/>
          </a:prstGeom>
          <a:noFill/>
          <a:ln/>
        </p:spPr>
        <p:txBody>
          <a:bodyPr wrap="square" lIns="0" tIns="0" rIns="0" bIns="0" rtlCol="0" anchor="ctr"/>
          <a:lstStyle/>
          <a:p>
            <a:pPr indent="0" marL="0">
              <a:buNone/>
            </a:pPr>
            <a:r>
              <a:rPr lang="en-US" sz="1300" b="1" dirty="0">
                <a:solidFill>
                  <a:srgbClr val="6A3FBF"/>
                </a:solidFill>
                <a:latin typeface="Calibri" pitchFamily="34" charset="0"/>
                <a:ea typeface="Calibri" pitchFamily="34" charset="-122"/>
                <a:cs typeface="Calibri" pitchFamily="34" charset="-120"/>
              </a:rPr>
              <a:t>Git &amp; GitHub</a:t>
            </a:r>
            <a:endParaRPr lang="en-US" sz="1300" dirty="0"/>
          </a:p>
        </p:txBody>
      </p:sp>
      <p:sp>
        <p:nvSpPr>
          <p:cNvPr id="36" name="Text 34"/>
          <p:cNvSpPr/>
          <p:nvPr/>
        </p:nvSpPr>
        <p:spPr>
          <a:xfrm>
            <a:off x="6428232" y="5047488"/>
            <a:ext cx="4846320" cy="365760"/>
          </a:xfrm>
          <a:prstGeom prst="rect">
            <a:avLst/>
          </a:prstGeom>
          <a:noFill/>
          <a:ln/>
        </p:spPr>
        <p:txBody>
          <a:bodyPr wrap="square" lIns="0" tIns="0" rIns="0" bIns="0" rtlCol="0" anchor="ctr"/>
          <a:lstStyle/>
          <a:p>
            <a:pPr indent="0" marL="0">
              <a:buNone/>
            </a:pPr>
            <a:r>
              <a:rPr lang="en-US" sz="1250" dirty="0">
                <a:solidFill>
                  <a:srgbClr val="5D5470"/>
                </a:solidFill>
                <a:latin typeface="Calibri" pitchFamily="34" charset="0"/>
                <a:ea typeface="Calibri" pitchFamily="34" charset="-122"/>
                <a:cs typeface="Calibri" pitchFamily="34" charset="-120"/>
              </a:rPr>
              <a:t>Store, manage, and submit the project</a:t>
            </a:r>
            <a:endParaRPr lang="en-US" sz="1250" dirty="0"/>
          </a:p>
        </p:txBody>
      </p:sp>
      <p:sp>
        <p:nvSpPr>
          <p:cNvPr id="37" name="Shape 35"/>
          <p:cNvSpPr/>
          <p:nvPr/>
        </p:nvSpPr>
        <p:spPr>
          <a:xfrm>
            <a:off x="685800" y="5623560"/>
            <a:ext cx="10789920" cy="640080"/>
          </a:xfrm>
          <a:prstGeom prst="roundRect">
            <a:avLst>
              <a:gd name="adj" fmla="val 8571"/>
            </a:avLst>
          </a:prstGeom>
          <a:solidFill>
            <a:srgbClr val="3D2569"/>
          </a:solidFill>
          <a:ln w="12700">
            <a:solidFill>
              <a:srgbClr val="3D2569"/>
            </a:solidFill>
            <a:prstDash val="solid"/>
          </a:ln>
        </p:spPr>
      </p:sp>
      <p:sp>
        <p:nvSpPr>
          <p:cNvPr id="38" name="Shape 36"/>
          <p:cNvSpPr/>
          <p:nvPr/>
        </p:nvSpPr>
        <p:spPr>
          <a:xfrm>
            <a:off x="960120" y="5888736"/>
            <a:ext cx="128016" cy="128016"/>
          </a:xfrm>
          <a:prstGeom prst="ellipse">
            <a:avLst/>
          </a:prstGeom>
          <a:solidFill>
            <a:srgbClr val="CBEF4F"/>
          </a:solidFill>
          <a:ln w="12700">
            <a:solidFill>
              <a:srgbClr val="CBEF4F"/>
            </a:solidFill>
            <a:prstDash val="solid"/>
          </a:ln>
        </p:spPr>
      </p:sp>
      <p:sp>
        <p:nvSpPr>
          <p:cNvPr id="39" name="Text 37"/>
          <p:cNvSpPr/>
          <p:nvPr/>
        </p:nvSpPr>
        <p:spPr>
          <a:xfrm>
            <a:off x="1216152" y="5769864"/>
            <a:ext cx="22402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p>
        </p:txBody>
      </p:sp>
      <p:sp>
        <p:nvSpPr>
          <p:cNvPr id="40" name="Text 38"/>
          <p:cNvSpPr/>
          <p:nvPr/>
        </p:nvSpPr>
        <p:spPr>
          <a:xfrm>
            <a:off x="3547872" y="5769864"/>
            <a:ext cx="2697480" cy="365760"/>
          </a:xfrm>
          <a:prstGeom prst="rect">
            <a:avLst/>
          </a:prstGeom>
          <a:noFill/>
          <a:ln/>
        </p:spPr>
        <p:txBody>
          <a:bodyPr wrap="square" lIns="0" tIns="0" rIns="0" bIns="0" rtlCol="0" anchor="ctr"/>
          <a:lstStyle/>
          <a:p>
            <a:pPr indent="0" marL="0">
              <a:buNone/>
            </a:pPr>
            <a:r>
              <a:rPr lang="en-US" sz="1300" b="1" dirty="0">
                <a:solidFill>
                  <a:srgbClr val="CBEF4F"/>
                </a:solidFill>
                <a:latin typeface="Calibri" pitchFamily="34" charset="0"/>
                <a:ea typeface="Calibri" pitchFamily="34" charset="-122"/>
                <a:cs typeface="Calibri" pitchFamily="34" charset="-120"/>
              </a:rPr>
              <a:t>Dynamic Programming</a:t>
            </a:r>
            <a:endParaRPr lang="en-US" sz="1300" dirty="0"/>
          </a:p>
        </p:txBody>
      </p:sp>
      <p:sp>
        <p:nvSpPr>
          <p:cNvPr id="41" name="Text 39"/>
          <p:cNvSpPr/>
          <p:nvPr/>
        </p:nvSpPr>
        <p:spPr>
          <a:xfrm>
            <a:off x="6428232" y="5769864"/>
            <a:ext cx="4846320" cy="365760"/>
          </a:xfrm>
          <a:prstGeom prst="rect">
            <a:avLst/>
          </a:prstGeom>
          <a:noFill/>
          <a:ln/>
        </p:spPr>
        <p:txBody>
          <a:bodyPr wrap="square" lIns="0" tIns="0" rIns="0" bIns="0" rtlCol="0" anchor="ctr"/>
          <a:lstStyle/>
          <a:p>
            <a:pPr indent="0" marL="0">
              <a:buNone/>
            </a:pPr>
            <a:r>
              <a:rPr lang="en-US" sz="1250" dirty="0">
                <a:solidFill>
                  <a:srgbClr val="C3B5DD"/>
                </a:solidFill>
                <a:latin typeface="Calibri" pitchFamily="34" charset="0"/>
                <a:ea typeface="Calibri" pitchFamily="34" charset="-122"/>
                <a:cs typeface="Calibri" pitchFamily="34" charset="-120"/>
              </a:rPr>
              <a:t>Efficiently compute the tree diameter</a:t>
            </a:r>
            <a:endParaRPr lang="en-US" sz="1250" dirty="0"/>
          </a:p>
        </p:txBody>
      </p:sp>
      <p:pic>
        <p:nvPicPr>
          <p:cNvPr id="42" name="Picture 41" descr="KLU_Logo_Exact.png"/>
          <p:cNvPicPr>
            <a:picLocks noChangeAspect="1"/>
          </p:cNvPicPr>
          <p:nvPr/>
        </p:nvPicPr>
        <p:blipFill>
          <a:blip r:embed="rId3"/>
          <a:stretch>
            <a:fillRect/>
          </a:stretch>
        </p:blipFill>
        <p:spPr>
          <a:xfrm>
            <a:off x="73152" y="73152"/>
            <a:ext cx="1325880" cy="6292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7315200" cy="256032"/>
          </a:xfrm>
          <a:prstGeom prst="rect">
            <a:avLst/>
          </a:prstGeom>
          <a:noFill/>
          <a:ln/>
        </p:spPr>
        <p:txBody>
          <a:bodyPr wrap="square" lIns="0" tIns="0" rIns="0" bIns="0" rtlCol="0" anchor="ctr"/>
          <a:lstStyle/>
          <a:p>
            <a:pPr indent="0" marL="0">
              <a:buNone/>
            </a:pPr>
            <a:r>
              <a:rPr lang="en-US" sz="1150" b="1" spc="250" kern="0" dirty="0">
                <a:solidFill>
                  <a:srgbClr val="6A3FBF"/>
                </a:solidFill>
                <a:latin typeface="Calibri" pitchFamily="34" charset="0"/>
                <a:ea typeface="Calibri" pitchFamily="34" charset="-122"/>
                <a:cs typeface="Calibri" pitchFamily="34" charset="-120"/>
              </a:rPr>
              <a:t>SLIDE 06</a:t>
            </a:r>
            <a:endParaRPr lang="en-US" sz="1150" dirty="0"/>
          </a:p>
        </p:txBody>
      </p:sp>
      <p:sp>
        <p:nvSpPr>
          <p:cNvPr id="3" name="Text 1"/>
          <p:cNvSpPr/>
          <p:nvPr/>
        </p:nvSpPr>
        <p:spPr>
          <a:xfrm>
            <a:off x="685800" y="640080"/>
            <a:ext cx="9601200" cy="566928"/>
          </a:xfrm>
          <a:prstGeom prst="rect">
            <a:avLst/>
          </a:prstGeom>
          <a:noFill/>
          <a:ln/>
        </p:spPr>
        <p:txBody>
          <a:bodyPr wrap="square" lIns="0" tIns="0" rIns="0" bIns="0" rtlCol="0" anchor="ctr"/>
          <a:lstStyle/>
          <a:p>
            <a:pPr indent="0" marL="0">
              <a:buNone/>
            </a:pPr>
            <a:r>
              <a:rPr lang="en-US" sz="3400" b="1" dirty="0">
                <a:solidFill>
                  <a:srgbClr val="3D2569"/>
                </a:solidFill>
                <a:latin typeface="Cambria" pitchFamily="34" charset="0"/>
                <a:ea typeface="Cambria" pitchFamily="34" charset="-122"/>
                <a:cs typeface="Cambria" pitchFamily="34" charset="-120"/>
              </a:rPr>
              <a:t>Expected Outcome</a:t>
            </a:r>
            <a:endParaRPr lang="en-US" sz="3400" dirty="0"/>
          </a:p>
        </p:txBody>
      </p:sp>
      <p:sp>
        <p:nvSpPr>
          <p:cNvPr id="7" name="Shape 5"/>
          <p:cNvSpPr/>
          <p:nvPr/>
        </p:nvSpPr>
        <p:spPr>
          <a:xfrm>
            <a:off x="11521440" y="795528"/>
            <a:ext cx="164592" cy="164592"/>
          </a:xfrm>
          <a:prstGeom prst="ellipse">
            <a:avLst/>
          </a:prstGeom>
          <a:solidFill>
            <a:srgbClr val="D6CCE8"/>
          </a:solidFill>
          <a:ln w="12700">
            <a:solidFill>
              <a:srgbClr val="D6CCE8"/>
            </a:solidFill>
            <a:prstDash val="solid"/>
          </a:ln>
        </p:spPr>
      </p:sp>
      <p:sp>
        <p:nvSpPr>
          <p:cNvPr id="8" name="Shape 6"/>
          <p:cNvSpPr/>
          <p:nvPr/>
        </p:nvSpPr>
        <p:spPr>
          <a:xfrm>
            <a:off x="11100816" y="795528"/>
            <a:ext cx="164592" cy="164592"/>
          </a:xfrm>
          <a:prstGeom prst="ellipse">
            <a:avLst/>
          </a:prstGeom>
          <a:solidFill>
            <a:srgbClr val="D6CCE8"/>
          </a:solidFill>
          <a:ln w="12700">
            <a:solidFill>
              <a:srgbClr val="D6CCE8"/>
            </a:solidFill>
            <a:prstDash val="solid"/>
          </a:ln>
        </p:spPr>
      </p:sp>
      <p:sp>
        <p:nvSpPr>
          <p:cNvPr id="9" name="Shape 7"/>
          <p:cNvSpPr/>
          <p:nvPr/>
        </p:nvSpPr>
        <p:spPr>
          <a:xfrm>
            <a:off x="685800" y="1517904"/>
            <a:ext cx="10789920" cy="2212848"/>
          </a:xfrm>
          <a:prstGeom prst="roundRect">
            <a:avLst>
              <a:gd name="adj" fmla="val 3306"/>
            </a:avLst>
          </a:prstGeom>
          <a:solidFill>
            <a:srgbClr val="FAF8FE"/>
          </a:solidFill>
          <a:ln w="12700">
            <a:solidFill>
              <a:srgbClr val="E5DEF5"/>
            </a:solidFill>
            <a:prstDash val="solid"/>
          </a:ln>
        </p:spPr>
      </p:sp>
      <p:sp>
        <p:nvSpPr>
          <p:cNvPr id="10" name="Text 8"/>
          <p:cNvSpPr/>
          <p:nvPr/>
        </p:nvSpPr>
        <p:spPr>
          <a:xfrm>
            <a:off x="1005840" y="1792224"/>
            <a:ext cx="10149840" cy="1691640"/>
          </a:xfrm>
          <a:prstGeom prst="rect">
            <a:avLst/>
          </a:prstGeom>
          <a:noFill/>
          <a:ln/>
        </p:spPr>
        <p:txBody>
          <a:bodyPr wrap="square" lIns="0" tIns="0" rIns="0" bIns="0" rtlCol="0" anchor="ctr"/>
          <a:lstStyle/>
          <a:p>
            <a:pPr indent="0" marL="0">
              <a:lnSpc>
                <a:spcPts val="2400"/>
              </a:lnSpc>
              <a:buNone/>
            </a:pPr>
            <a:r>
              <a:rPr lang="en-US" sz="1450" dirty="0">
                <a:solidFill>
                  <a:srgbClr val="33294A"/>
                </a:solidFill>
                <a:latin typeface="Calibri" pitchFamily="34" charset="0"/>
                <a:ea typeface="Calibri" pitchFamily="34" charset="-122"/>
                <a:cs typeface="Calibri" pitchFamily="34" charset="-120"/>
              </a:rPr>
              <a:t>The expected outcome of this project is to develop an efficient application that can construct and visualize a tree from the given input edges and compute its diameter using a dynamic programming approach. The system will display the diameter length and the corresponding longest path between two nodes. The diameter path will be visually highlighted in the tree, making the result easy to understand. The application is expected to handle tree structures of up to 1000 nodes efficiently while demonstrating the practical use of dynamic programming and tree traversal techniques.</a:t>
            </a:r>
            <a:endParaRPr lang="en-US" sz="1450" dirty="0"/>
          </a:p>
        </p:txBody>
      </p:sp>
      <p:sp>
        <p:nvSpPr>
          <p:cNvPr id="11" name="Shape 9"/>
          <p:cNvSpPr/>
          <p:nvPr/>
        </p:nvSpPr>
        <p:spPr>
          <a:xfrm>
            <a:off x="685800" y="4041648"/>
            <a:ext cx="2615184" cy="2084832"/>
          </a:xfrm>
          <a:prstGeom prst="roundRect">
            <a:avLst>
              <a:gd name="adj" fmla="val 3070"/>
            </a:avLst>
          </a:prstGeom>
          <a:solidFill>
            <a:srgbClr val="FFFFFF"/>
          </a:solidFill>
          <a:ln w="12700">
            <a:solidFill>
              <a:srgbClr val="E5DEF5"/>
            </a:solidFill>
            <a:prstDash val="solid"/>
          </a:ln>
        </p:spPr>
      </p:sp>
      <p:sp>
        <p:nvSpPr>
          <p:cNvPr id="12" name="Shape 10"/>
          <p:cNvSpPr/>
          <p:nvPr/>
        </p:nvSpPr>
        <p:spPr>
          <a:xfrm>
            <a:off x="1243584" y="4416552"/>
            <a:ext cx="210312" cy="210312"/>
          </a:xfrm>
          <a:prstGeom prst="line">
            <a:avLst/>
          </a:prstGeom>
          <a:noFill/>
          <a:ln w="25400">
            <a:solidFill>
              <a:srgbClr val="D6CCE8"/>
            </a:solidFill>
            <a:prstDash val="solid"/>
          </a:ln>
        </p:spPr>
      </p:sp>
      <p:sp>
        <p:nvSpPr>
          <p:cNvPr id="13" name="Shape 11"/>
          <p:cNvSpPr/>
          <p:nvPr/>
        </p:nvSpPr>
        <p:spPr>
          <a:xfrm flipH="1">
            <a:off x="1033272" y="4416552"/>
            <a:ext cx="210312" cy="210312"/>
          </a:xfrm>
          <a:prstGeom prst="line">
            <a:avLst/>
          </a:prstGeom>
          <a:noFill/>
          <a:ln w="25400">
            <a:solidFill>
              <a:srgbClr val="D6CCE8"/>
            </a:solidFill>
            <a:prstDash val="solid"/>
          </a:ln>
        </p:spPr>
      </p:sp>
      <p:sp>
        <p:nvSpPr>
          <p:cNvPr id="14" name="Shape 12"/>
          <p:cNvSpPr/>
          <p:nvPr/>
        </p:nvSpPr>
        <p:spPr>
          <a:xfrm>
            <a:off x="1161288" y="4334256"/>
            <a:ext cx="164592" cy="164592"/>
          </a:xfrm>
          <a:prstGeom prst="ellipse">
            <a:avLst/>
          </a:prstGeom>
          <a:solidFill>
            <a:srgbClr val="A6CD1E"/>
          </a:solidFill>
          <a:ln w="12700">
            <a:solidFill>
              <a:srgbClr val="A6CD1E"/>
            </a:solidFill>
            <a:prstDash val="solid"/>
          </a:ln>
        </p:spPr>
      </p:sp>
      <p:sp>
        <p:nvSpPr>
          <p:cNvPr id="15" name="Shape 13"/>
          <p:cNvSpPr/>
          <p:nvPr/>
        </p:nvSpPr>
        <p:spPr>
          <a:xfrm>
            <a:off x="1371600" y="4544568"/>
            <a:ext cx="164592" cy="164592"/>
          </a:xfrm>
          <a:prstGeom prst="ellipse">
            <a:avLst/>
          </a:prstGeom>
          <a:solidFill>
            <a:srgbClr val="D6CCE8"/>
          </a:solidFill>
          <a:ln w="12700">
            <a:solidFill>
              <a:srgbClr val="D6CCE8"/>
            </a:solidFill>
            <a:prstDash val="solid"/>
          </a:ln>
        </p:spPr>
      </p:sp>
      <p:sp>
        <p:nvSpPr>
          <p:cNvPr id="16" name="Shape 14"/>
          <p:cNvSpPr/>
          <p:nvPr/>
        </p:nvSpPr>
        <p:spPr>
          <a:xfrm>
            <a:off x="950976" y="4544568"/>
            <a:ext cx="164592" cy="164592"/>
          </a:xfrm>
          <a:prstGeom prst="ellipse">
            <a:avLst/>
          </a:prstGeom>
          <a:solidFill>
            <a:srgbClr val="D6CCE8"/>
          </a:solidFill>
          <a:ln w="12700">
            <a:solidFill>
              <a:srgbClr val="D6CCE8"/>
            </a:solidFill>
            <a:prstDash val="solid"/>
          </a:ln>
        </p:spPr>
      </p:sp>
      <p:sp>
        <p:nvSpPr>
          <p:cNvPr id="17" name="Text 15"/>
          <p:cNvSpPr/>
          <p:nvPr/>
        </p:nvSpPr>
        <p:spPr>
          <a:xfrm>
            <a:off x="941832" y="4956048"/>
            <a:ext cx="2103120" cy="347472"/>
          </a:xfrm>
          <a:prstGeom prst="rect">
            <a:avLst/>
          </a:prstGeom>
          <a:noFill/>
          <a:ln/>
        </p:spPr>
        <p:txBody>
          <a:bodyPr wrap="square" lIns="0" tIns="0" rIns="0" bIns="0" rtlCol="0" anchor="ctr"/>
          <a:lstStyle/>
          <a:p>
            <a:pPr indent="0" marL="0">
              <a:buNone/>
            </a:pPr>
            <a:r>
              <a:rPr lang="en-US" sz="1600" b="1" dirty="0">
                <a:solidFill>
                  <a:srgbClr val="3D2569"/>
                </a:solidFill>
                <a:latin typeface="Cambria" pitchFamily="34" charset="0"/>
                <a:ea typeface="Cambria" pitchFamily="34" charset="-122"/>
                <a:cs typeface="Cambria" pitchFamily="34" charset="-120"/>
              </a:rPr>
              <a:t>Correct Result</a:t>
            </a:r>
            <a:endParaRPr lang="en-US" sz="1600" dirty="0"/>
          </a:p>
        </p:txBody>
      </p:sp>
      <p:sp>
        <p:nvSpPr>
          <p:cNvPr id="18" name="Text 16"/>
          <p:cNvSpPr/>
          <p:nvPr/>
        </p:nvSpPr>
        <p:spPr>
          <a:xfrm>
            <a:off x="941832" y="5340096"/>
            <a:ext cx="2103120" cy="640080"/>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Accurate diameter length and the longest path between two nodes.</a:t>
            </a:r>
            <a:endParaRPr lang="en-US" sz="1200" dirty="0"/>
          </a:p>
        </p:txBody>
      </p:sp>
      <p:sp>
        <p:nvSpPr>
          <p:cNvPr id="19" name="Shape 17"/>
          <p:cNvSpPr/>
          <p:nvPr/>
        </p:nvSpPr>
        <p:spPr>
          <a:xfrm>
            <a:off x="3474720" y="4041648"/>
            <a:ext cx="2615184" cy="2084832"/>
          </a:xfrm>
          <a:prstGeom prst="roundRect">
            <a:avLst>
              <a:gd name="adj" fmla="val 3070"/>
            </a:avLst>
          </a:prstGeom>
          <a:solidFill>
            <a:srgbClr val="3D2569"/>
          </a:solidFill>
          <a:ln w="12700">
            <a:solidFill>
              <a:srgbClr val="3D2569"/>
            </a:solidFill>
            <a:prstDash val="solid"/>
          </a:ln>
        </p:spPr>
      </p:sp>
      <p:sp>
        <p:nvSpPr>
          <p:cNvPr id="20" name="Shape 18"/>
          <p:cNvSpPr/>
          <p:nvPr/>
        </p:nvSpPr>
        <p:spPr>
          <a:xfrm>
            <a:off x="4032504" y="4416552"/>
            <a:ext cx="210312" cy="210312"/>
          </a:xfrm>
          <a:prstGeom prst="line">
            <a:avLst/>
          </a:prstGeom>
          <a:noFill/>
          <a:ln w="25400">
            <a:solidFill>
              <a:srgbClr val="6B54A0"/>
            </a:solidFill>
            <a:prstDash val="solid"/>
          </a:ln>
        </p:spPr>
      </p:sp>
      <p:sp>
        <p:nvSpPr>
          <p:cNvPr id="21" name="Shape 19"/>
          <p:cNvSpPr/>
          <p:nvPr/>
        </p:nvSpPr>
        <p:spPr>
          <a:xfrm flipH="1">
            <a:off x="3822192" y="4416552"/>
            <a:ext cx="210312" cy="210312"/>
          </a:xfrm>
          <a:prstGeom prst="line">
            <a:avLst/>
          </a:prstGeom>
          <a:noFill/>
          <a:ln w="25400">
            <a:solidFill>
              <a:srgbClr val="6B54A0"/>
            </a:solidFill>
            <a:prstDash val="solid"/>
          </a:ln>
        </p:spPr>
      </p:sp>
      <p:sp>
        <p:nvSpPr>
          <p:cNvPr id="22" name="Shape 20"/>
          <p:cNvSpPr/>
          <p:nvPr/>
        </p:nvSpPr>
        <p:spPr>
          <a:xfrm>
            <a:off x="3950208" y="4334256"/>
            <a:ext cx="164592" cy="164592"/>
          </a:xfrm>
          <a:prstGeom prst="ellipse">
            <a:avLst/>
          </a:prstGeom>
          <a:solidFill>
            <a:srgbClr val="CBEF4F"/>
          </a:solidFill>
          <a:ln w="12700">
            <a:solidFill>
              <a:srgbClr val="CBEF4F"/>
            </a:solidFill>
            <a:prstDash val="solid"/>
          </a:ln>
        </p:spPr>
      </p:sp>
      <p:sp>
        <p:nvSpPr>
          <p:cNvPr id="23" name="Shape 21"/>
          <p:cNvSpPr/>
          <p:nvPr/>
        </p:nvSpPr>
        <p:spPr>
          <a:xfrm>
            <a:off x="4160520" y="4544568"/>
            <a:ext cx="164592" cy="164592"/>
          </a:xfrm>
          <a:prstGeom prst="ellipse">
            <a:avLst/>
          </a:prstGeom>
          <a:solidFill>
            <a:srgbClr val="6B54A0"/>
          </a:solidFill>
          <a:ln w="12700">
            <a:solidFill>
              <a:srgbClr val="6B54A0"/>
            </a:solidFill>
            <a:prstDash val="solid"/>
          </a:ln>
        </p:spPr>
      </p:sp>
      <p:sp>
        <p:nvSpPr>
          <p:cNvPr id="24" name="Shape 22"/>
          <p:cNvSpPr/>
          <p:nvPr/>
        </p:nvSpPr>
        <p:spPr>
          <a:xfrm>
            <a:off x="3739896" y="4544568"/>
            <a:ext cx="164592" cy="164592"/>
          </a:xfrm>
          <a:prstGeom prst="ellipse">
            <a:avLst/>
          </a:prstGeom>
          <a:solidFill>
            <a:srgbClr val="6B54A0"/>
          </a:solidFill>
          <a:ln w="12700">
            <a:solidFill>
              <a:srgbClr val="6B54A0"/>
            </a:solidFill>
            <a:prstDash val="solid"/>
          </a:ln>
        </p:spPr>
      </p:sp>
      <p:sp>
        <p:nvSpPr>
          <p:cNvPr id="25" name="Text 23"/>
          <p:cNvSpPr/>
          <p:nvPr/>
        </p:nvSpPr>
        <p:spPr>
          <a:xfrm>
            <a:off x="3730752" y="4956048"/>
            <a:ext cx="210312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Clear Visualization</a:t>
            </a:r>
            <a:endParaRPr lang="en-US" sz="1600" dirty="0"/>
          </a:p>
        </p:txBody>
      </p:sp>
      <p:sp>
        <p:nvSpPr>
          <p:cNvPr id="26" name="Text 24"/>
          <p:cNvSpPr/>
          <p:nvPr/>
        </p:nvSpPr>
        <p:spPr>
          <a:xfrm>
            <a:off x="3730752" y="5340096"/>
            <a:ext cx="2103120" cy="640080"/>
          </a:xfrm>
          <a:prstGeom prst="rect">
            <a:avLst/>
          </a:prstGeom>
          <a:noFill/>
          <a:ln/>
        </p:spPr>
        <p:txBody>
          <a:bodyPr wrap="square" lIns="0" tIns="0" rIns="0" bIns="0" rtlCol="0" anchor="ctr"/>
          <a:lstStyle/>
          <a:p>
            <a:pPr indent="0" marL="0">
              <a:lnSpc>
                <a:spcPts val="1700"/>
              </a:lnSpc>
              <a:buNone/>
            </a:pPr>
            <a:r>
              <a:rPr lang="en-US" sz="1200" dirty="0">
                <a:solidFill>
                  <a:srgbClr val="C3B5DD"/>
                </a:solidFill>
                <a:latin typeface="Calibri" pitchFamily="34" charset="0"/>
                <a:ea typeface="Calibri" pitchFamily="34" charset="-122"/>
                <a:cs typeface="Calibri" pitchFamily="34" charset="-120"/>
              </a:rPr>
              <a:t>The tree is drawn and the diameter path is highlighted on screen.</a:t>
            </a:r>
            <a:endParaRPr lang="en-US" sz="1200" dirty="0"/>
          </a:p>
        </p:txBody>
      </p:sp>
      <p:sp>
        <p:nvSpPr>
          <p:cNvPr id="27" name="Shape 25"/>
          <p:cNvSpPr/>
          <p:nvPr/>
        </p:nvSpPr>
        <p:spPr>
          <a:xfrm>
            <a:off x="6263640" y="4041648"/>
            <a:ext cx="2615184" cy="2084832"/>
          </a:xfrm>
          <a:prstGeom prst="roundRect">
            <a:avLst>
              <a:gd name="adj" fmla="val 3070"/>
            </a:avLst>
          </a:prstGeom>
          <a:solidFill>
            <a:srgbClr val="FFFFFF"/>
          </a:solidFill>
          <a:ln w="12700">
            <a:solidFill>
              <a:srgbClr val="E5DEF5"/>
            </a:solidFill>
            <a:prstDash val="solid"/>
          </a:ln>
        </p:spPr>
      </p:sp>
      <p:sp>
        <p:nvSpPr>
          <p:cNvPr id="28" name="Shape 26"/>
          <p:cNvSpPr/>
          <p:nvPr/>
        </p:nvSpPr>
        <p:spPr>
          <a:xfrm>
            <a:off x="6821424" y="4416552"/>
            <a:ext cx="210312" cy="210312"/>
          </a:xfrm>
          <a:prstGeom prst="line">
            <a:avLst/>
          </a:prstGeom>
          <a:noFill/>
          <a:ln w="25400">
            <a:solidFill>
              <a:srgbClr val="D6CCE8"/>
            </a:solidFill>
            <a:prstDash val="solid"/>
          </a:ln>
        </p:spPr>
      </p:sp>
      <p:sp>
        <p:nvSpPr>
          <p:cNvPr id="29" name="Shape 27"/>
          <p:cNvSpPr/>
          <p:nvPr/>
        </p:nvSpPr>
        <p:spPr>
          <a:xfrm flipH="1">
            <a:off x="6611112" y="4416552"/>
            <a:ext cx="210312" cy="210312"/>
          </a:xfrm>
          <a:prstGeom prst="line">
            <a:avLst/>
          </a:prstGeom>
          <a:noFill/>
          <a:ln w="25400">
            <a:solidFill>
              <a:srgbClr val="D6CCE8"/>
            </a:solidFill>
            <a:prstDash val="solid"/>
          </a:ln>
        </p:spPr>
      </p:sp>
      <p:sp>
        <p:nvSpPr>
          <p:cNvPr id="30" name="Shape 28"/>
          <p:cNvSpPr/>
          <p:nvPr/>
        </p:nvSpPr>
        <p:spPr>
          <a:xfrm>
            <a:off x="6739128" y="4334256"/>
            <a:ext cx="164592" cy="164592"/>
          </a:xfrm>
          <a:prstGeom prst="ellipse">
            <a:avLst/>
          </a:prstGeom>
          <a:solidFill>
            <a:srgbClr val="A6CD1E"/>
          </a:solidFill>
          <a:ln w="12700">
            <a:solidFill>
              <a:srgbClr val="A6CD1E"/>
            </a:solidFill>
            <a:prstDash val="solid"/>
          </a:ln>
        </p:spPr>
      </p:sp>
      <p:sp>
        <p:nvSpPr>
          <p:cNvPr id="31" name="Shape 29"/>
          <p:cNvSpPr/>
          <p:nvPr/>
        </p:nvSpPr>
        <p:spPr>
          <a:xfrm>
            <a:off x="6949440" y="4544568"/>
            <a:ext cx="164592" cy="164592"/>
          </a:xfrm>
          <a:prstGeom prst="ellipse">
            <a:avLst/>
          </a:prstGeom>
          <a:solidFill>
            <a:srgbClr val="D6CCE8"/>
          </a:solidFill>
          <a:ln w="12700">
            <a:solidFill>
              <a:srgbClr val="D6CCE8"/>
            </a:solidFill>
            <a:prstDash val="solid"/>
          </a:ln>
        </p:spPr>
      </p:sp>
      <p:sp>
        <p:nvSpPr>
          <p:cNvPr id="32" name="Shape 30"/>
          <p:cNvSpPr/>
          <p:nvPr/>
        </p:nvSpPr>
        <p:spPr>
          <a:xfrm>
            <a:off x="6528816" y="4544568"/>
            <a:ext cx="164592" cy="164592"/>
          </a:xfrm>
          <a:prstGeom prst="ellipse">
            <a:avLst/>
          </a:prstGeom>
          <a:solidFill>
            <a:srgbClr val="D6CCE8"/>
          </a:solidFill>
          <a:ln w="12700">
            <a:solidFill>
              <a:srgbClr val="D6CCE8"/>
            </a:solidFill>
            <a:prstDash val="solid"/>
          </a:ln>
        </p:spPr>
      </p:sp>
      <p:sp>
        <p:nvSpPr>
          <p:cNvPr id="33" name="Text 31"/>
          <p:cNvSpPr/>
          <p:nvPr/>
        </p:nvSpPr>
        <p:spPr>
          <a:xfrm>
            <a:off x="6519672" y="4956048"/>
            <a:ext cx="2103120" cy="347472"/>
          </a:xfrm>
          <a:prstGeom prst="rect">
            <a:avLst/>
          </a:prstGeom>
          <a:noFill/>
          <a:ln/>
        </p:spPr>
        <p:txBody>
          <a:bodyPr wrap="square" lIns="0" tIns="0" rIns="0" bIns="0" rtlCol="0" anchor="ctr"/>
          <a:lstStyle/>
          <a:p>
            <a:pPr indent="0" marL="0">
              <a:buNone/>
            </a:pPr>
            <a:r>
              <a:rPr lang="en-US" sz="1600" b="1" dirty="0">
                <a:solidFill>
                  <a:srgbClr val="3D2569"/>
                </a:solidFill>
                <a:latin typeface="Cambria" pitchFamily="34" charset="0"/>
                <a:ea typeface="Cambria" pitchFamily="34" charset="-122"/>
                <a:cs typeface="Cambria" pitchFamily="34" charset="-120"/>
              </a:rPr>
              <a:t>Efficient Scaling</a:t>
            </a:r>
            <a:endParaRPr lang="en-US" sz="1600" dirty="0"/>
          </a:p>
        </p:txBody>
      </p:sp>
      <p:sp>
        <p:nvSpPr>
          <p:cNvPr id="34" name="Text 32"/>
          <p:cNvSpPr/>
          <p:nvPr/>
        </p:nvSpPr>
        <p:spPr>
          <a:xfrm>
            <a:off x="6519672" y="5340096"/>
            <a:ext cx="2103120" cy="640080"/>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Smooth handling of tree structures containing up to 1000 nodes.</a:t>
            </a:r>
            <a:endParaRPr lang="en-US" sz="1200" dirty="0"/>
          </a:p>
        </p:txBody>
      </p:sp>
      <p:sp>
        <p:nvSpPr>
          <p:cNvPr id="35" name="Shape 33"/>
          <p:cNvSpPr/>
          <p:nvPr/>
        </p:nvSpPr>
        <p:spPr>
          <a:xfrm>
            <a:off x="9052560" y="4041648"/>
            <a:ext cx="2615184" cy="2084832"/>
          </a:xfrm>
          <a:prstGeom prst="roundRect">
            <a:avLst>
              <a:gd name="adj" fmla="val 3070"/>
            </a:avLst>
          </a:prstGeom>
          <a:solidFill>
            <a:srgbClr val="FFFFFF"/>
          </a:solidFill>
          <a:ln w="12700">
            <a:solidFill>
              <a:srgbClr val="E5DEF5"/>
            </a:solidFill>
            <a:prstDash val="solid"/>
          </a:ln>
        </p:spPr>
      </p:sp>
      <p:sp>
        <p:nvSpPr>
          <p:cNvPr id="36" name="Shape 34"/>
          <p:cNvSpPr/>
          <p:nvPr/>
        </p:nvSpPr>
        <p:spPr>
          <a:xfrm>
            <a:off x="9610344" y="4416552"/>
            <a:ext cx="210312" cy="210312"/>
          </a:xfrm>
          <a:prstGeom prst="line">
            <a:avLst/>
          </a:prstGeom>
          <a:noFill/>
          <a:ln w="25400">
            <a:solidFill>
              <a:srgbClr val="D6CCE8"/>
            </a:solidFill>
            <a:prstDash val="solid"/>
          </a:ln>
        </p:spPr>
      </p:sp>
      <p:sp>
        <p:nvSpPr>
          <p:cNvPr id="37" name="Shape 35"/>
          <p:cNvSpPr/>
          <p:nvPr/>
        </p:nvSpPr>
        <p:spPr>
          <a:xfrm flipH="1">
            <a:off x="9400032" y="4416552"/>
            <a:ext cx="210312" cy="210312"/>
          </a:xfrm>
          <a:prstGeom prst="line">
            <a:avLst/>
          </a:prstGeom>
          <a:noFill/>
          <a:ln w="25400">
            <a:solidFill>
              <a:srgbClr val="D6CCE8"/>
            </a:solidFill>
            <a:prstDash val="solid"/>
          </a:ln>
        </p:spPr>
      </p:sp>
      <p:sp>
        <p:nvSpPr>
          <p:cNvPr id="38" name="Shape 36"/>
          <p:cNvSpPr/>
          <p:nvPr/>
        </p:nvSpPr>
        <p:spPr>
          <a:xfrm>
            <a:off x="9528048" y="4334256"/>
            <a:ext cx="164592" cy="164592"/>
          </a:xfrm>
          <a:prstGeom prst="ellipse">
            <a:avLst/>
          </a:prstGeom>
          <a:solidFill>
            <a:srgbClr val="A6CD1E"/>
          </a:solidFill>
          <a:ln w="12700">
            <a:solidFill>
              <a:srgbClr val="A6CD1E"/>
            </a:solidFill>
            <a:prstDash val="solid"/>
          </a:ln>
        </p:spPr>
      </p:sp>
      <p:sp>
        <p:nvSpPr>
          <p:cNvPr id="39" name="Shape 37"/>
          <p:cNvSpPr/>
          <p:nvPr/>
        </p:nvSpPr>
        <p:spPr>
          <a:xfrm>
            <a:off x="9738360" y="4544568"/>
            <a:ext cx="164592" cy="164592"/>
          </a:xfrm>
          <a:prstGeom prst="ellipse">
            <a:avLst/>
          </a:prstGeom>
          <a:solidFill>
            <a:srgbClr val="D6CCE8"/>
          </a:solidFill>
          <a:ln w="12700">
            <a:solidFill>
              <a:srgbClr val="D6CCE8"/>
            </a:solidFill>
            <a:prstDash val="solid"/>
          </a:ln>
        </p:spPr>
      </p:sp>
      <p:sp>
        <p:nvSpPr>
          <p:cNvPr id="40" name="Shape 38"/>
          <p:cNvSpPr/>
          <p:nvPr/>
        </p:nvSpPr>
        <p:spPr>
          <a:xfrm>
            <a:off x="9317736" y="4544568"/>
            <a:ext cx="164592" cy="164592"/>
          </a:xfrm>
          <a:prstGeom prst="ellipse">
            <a:avLst/>
          </a:prstGeom>
          <a:solidFill>
            <a:srgbClr val="D6CCE8"/>
          </a:solidFill>
          <a:ln w="12700">
            <a:solidFill>
              <a:srgbClr val="D6CCE8"/>
            </a:solidFill>
            <a:prstDash val="solid"/>
          </a:ln>
        </p:spPr>
      </p:sp>
      <p:sp>
        <p:nvSpPr>
          <p:cNvPr id="41" name="Text 39"/>
          <p:cNvSpPr/>
          <p:nvPr/>
        </p:nvSpPr>
        <p:spPr>
          <a:xfrm>
            <a:off x="9308592" y="4956048"/>
            <a:ext cx="2103120" cy="347472"/>
          </a:xfrm>
          <a:prstGeom prst="rect">
            <a:avLst/>
          </a:prstGeom>
          <a:noFill/>
          <a:ln/>
        </p:spPr>
        <p:txBody>
          <a:bodyPr wrap="square" lIns="0" tIns="0" rIns="0" bIns="0" rtlCol="0" anchor="ctr"/>
          <a:lstStyle/>
          <a:p>
            <a:pPr indent="0" marL="0">
              <a:buNone/>
            </a:pPr>
            <a:r>
              <a:rPr lang="en-US" sz="1600" b="1" dirty="0">
                <a:solidFill>
                  <a:srgbClr val="3D2569"/>
                </a:solidFill>
                <a:latin typeface="Cambria" pitchFamily="34" charset="0"/>
                <a:ea typeface="Cambria" pitchFamily="34" charset="-122"/>
                <a:cs typeface="Cambria" pitchFamily="34" charset="-120"/>
              </a:rPr>
              <a:t>Concept Demonstrated</a:t>
            </a:r>
            <a:endParaRPr lang="en-US" sz="1600" dirty="0"/>
          </a:p>
        </p:txBody>
      </p:sp>
      <p:sp>
        <p:nvSpPr>
          <p:cNvPr id="42" name="Text 40"/>
          <p:cNvSpPr/>
          <p:nvPr/>
        </p:nvSpPr>
        <p:spPr>
          <a:xfrm>
            <a:off x="9308592" y="5340096"/>
            <a:ext cx="2103120" cy="640080"/>
          </a:xfrm>
          <a:prstGeom prst="rect">
            <a:avLst/>
          </a:prstGeom>
          <a:noFill/>
          <a:ln/>
        </p:spPr>
        <p:txBody>
          <a:bodyPr wrap="square" lIns="0" tIns="0" rIns="0" bIns="0" rtlCol="0" anchor="ctr"/>
          <a:lstStyle/>
          <a:p>
            <a:pPr indent="0" marL="0">
              <a:lnSpc>
                <a:spcPts val="1700"/>
              </a:lnSpc>
              <a:buNone/>
            </a:pPr>
            <a:r>
              <a:rPr lang="en-US" sz="1200" dirty="0">
                <a:solidFill>
                  <a:srgbClr val="5D5470"/>
                </a:solidFill>
                <a:latin typeface="Calibri" pitchFamily="34" charset="0"/>
                <a:ea typeface="Calibri" pitchFamily="34" charset="-122"/>
                <a:cs typeface="Calibri" pitchFamily="34" charset="-120"/>
              </a:rPr>
              <a:t>Practical application of DP and tree traversal techniques.</a:t>
            </a:r>
            <a:endParaRPr lang="en-US" sz="1200" dirty="0"/>
          </a:p>
        </p:txBody>
      </p:sp>
      <p:pic>
        <p:nvPicPr>
          <p:cNvPr id="43" name="Picture 42" descr="KLU_Logo_Exact.png"/>
          <p:cNvPicPr>
            <a:picLocks noChangeAspect="1"/>
          </p:cNvPicPr>
          <p:nvPr/>
        </p:nvPicPr>
        <p:blipFill>
          <a:blip r:embed="rId3"/>
          <a:stretch>
            <a:fillRect/>
          </a:stretch>
        </p:blipFill>
        <p:spPr>
          <a:xfrm>
            <a:off x="73152" y="73152"/>
            <a:ext cx="1325880" cy="6292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8595360" y="2233422"/>
            <a:ext cx="528066" cy="816102"/>
          </a:xfrm>
          <a:prstGeom prst="line">
            <a:avLst/>
          </a:prstGeom>
          <a:noFill/>
          <a:ln w="28575">
            <a:solidFill>
              <a:srgbClr val="3A2A5C"/>
            </a:solidFill>
            <a:prstDash val="solid"/>
          </a:ln>
        </p:spPr>
      </p:sp>
      <p:sp>
        <p:nvSpPr>
          <p:cNvPr id="3" name="Shape 1"/>
          <p:cNvSpPr/>
          <p:nvPr/>
        </p:nvSpPr>
        <p:spPr>
          <a:xfrm flipH="1">
            <a:off x="10035540" y="2233422"/>
            <a:ext cx="480060" cy="816102"/>
          </a:xfrm>
          <a:prstGeom prst="line">
            <a:avLst/>
          </a:prstGeom>
          <a:noFill/>
          <a:ln w="28575">
            <a:solidFill>
              <a:srgbClr val="3A2A5C"/>
            </a:solidFill>
            <a:prstDash val="solid"/>
          </a:ln>
        </p:spPr>
      </p:sp>
      <p:sp>
        <p:nvSpPr>
          <p:cNvPr id="4" name="Shape 2"/>
          <p:cNvSpPr/>
          <p:nvPr/>
        </p:nvSpPr>
        <p:spPr>
          <a:xfrm flipH="1">
            <a:off x="8595360" y="1417320"/>
            <a:ext cx="960120" cy="816102"/>
          </a:xfrm>
          <a:prstGeom prst="line">
            <a:avLst/>
          </a:prstGeom>
          <a:noFill/>
          <a:ln w="63500">
            <a:solidFill>
              <a:srgbClr val="CBEF4F"/>
            </a:solidFill>
            <a:prstDash val="solid"/>
          </a:ln>
        </p:spPr>
      </p:sp>
      <p:sp>
        <p:nvSpPr>
          <p:cNvPr id="5" name="Shape 3"/>
          <p:cNvSpPr/>
          <p:nvPr/>
        </p:nvSpPr>
        <p:spPr>
          <a:xfrm>
            <a:off x="9555480" y="1417320"/>
            <a:ext cx="960120" cy="816102"/>
          </a:xfrm>
          <a:prstGeom prst="line">
            <a:avLst/>
          </a:prstGeom>
          <a:noFill/>
          <a:ln w="63500">
            <a:solidFill>
              <a:srgbClr val="CBEF4F"/>
            </a:solidFill>
            <a:prstDash val="solid"/>
          </a:ln>
        </p:spPr>
      </p:sp>
      <p:sp>
        <p:nvSpPr>
          <p:cNvPr id="6" name="Shape 4"/>
          <p:cNvSpPr/>
          <p:nvPr/>
        </p:nvSpPr>
        <p:spPr>
          <a:xfrm flipH="1">
            <a:off x="7971282" y="2233422"/>
            <a:ext cx="624078" cy="816102"/>
          </a:xfrm>
          <a:prstGeom prst="line">
            <a:avLst/>
          </a:prstGeom>
          <a:noFill/>
          <a:ln w="63500">
            <a:solidFill>
              <a:srgbClr val="CBEF4F"/>
            </a:solidFill>
            <a:prstDash val="solid"/>
          </a:ln>
        </p:spPr>
      </p:sp>
      <p:sp>
        <p:nvSpPr>
          <p:cNvPr id="7" name="Shape 5"/>
          <p:cNvSpPr/>
          <p:nvPr/>
        </p:nvSpPr>
        <p:spPr>
          <a:xfrm>
            <a:off x="10515600" y="2233422"/>
            <a:ext cx="576072" cy="816102"/>
          </a:xfrm>
          <a:prstGeom prst="line">
            <a:avLst/>
          </a:prstGeom>
          <a:noFill/>
          <a:ln w="63500">
            <a:solidFill>
              <a:srgbClr val="CBEF4F"/>
            </a:solidFill>
            <a:prstDash val="solid"/>
          </a:ln>
        </p:spPr>
      </p:sp>
      <p:sp>
        <p:nvSpPr>
          <p:cNvPr id="8" name="Shape 6"/>
          <p:cNvSpPr/>
          <p:nvPr/>
        </p:nvSpPr>
        <p:spPr>
          <a:xfrm flipH="1">
            <a:off x="7635240" y="3049524"/>
            <a:ext cx="336042" cy="816102"/>
          </a:xfrm>
          <a:prstGeom prst="line">
            <a:avLst/>
          </a:prstGeom>
          <a:noFill/>
          <a:ln w="63500">
            <a:solidFill>
              <a:srgbClr val="CBEF4F"/>
            </a:solidFill>
            <a:prstDash val="solid"/>
          </a:ln>
        </p:spPr>
      </p:sp>
      <p:sp>
        <p:nvSpPr>
          <p:cNvPr id="9" name="Shape 7"/>
          <p:cNvSpPr/>
          <p:nvPr/>
        </p:nvSpPr>
        <p:spPr>
          <a:xfrm>
            <a:off x="11091672" y="3049524"/>
            <a:ext cx="432054" cy="816102"/>
          </a:xfrm>
          <a:prstGeom prst="line">
            <a:avLst/>
          </a:prstGeom>
          <a:noFill/>
          <a:ln w="63500">
            <a:solidFill>
              <a:srgbClr val="CBEF4F"/>
            </a:solidFill>
            <a:prstDash val="solid"/>
          </a:ln>
        </p:spPr>
      </p:sp>
      <p:sp>
        <p:nvSpPr>
          <p:cNvPr id="10" name="Shape 8"/>
          <p:cNvSpPr/>
          <p:nvPr/>
        </p:nvSpPr>
        <p:spPr>
          <a:xfrm>
            <a:off x="9350654" y="1212494"/>
            <a:ext cx="409651" cy="409651"/>
          </a:xfrm>
          <a:prstGeom prst="ellipse">
            <a:avLst/>
          </a:prstGeom>
          <a:solidFill>
            <a:srgbClr val="CBEF4F"/>
          </a:solidFill>
          <a:ln w="12700">
            <a:solidFill>
              <a:srgbClr val="CBEF4F"/>
            </a:solidFill>
            <a:prstDash val="solid"/>
          </a:ln>
        </p:spPr>
      </p:sp>
      <p:sp>
        <p:nvSpPr>
          <p:cNvPr id="11" name="Shape 9"/>
          <p:cNvSpPr/>
          <p:nvPr/>
        </p:nvSpPr>
        <p:spPr>
          <a:xfrm>
            <a:off x="8390534" y="2028596"/>
            <a:ext cx="409651" cy="409651"/>
          </a:xfrm>
          <a:prstGeom prst="ellipse">
            <a:avLst/>
          </a:prstGeom>
          <a:solidFill>
            <a:srgbClr val="CBEF4F"/>
          </a:solidFill>
          <a:ln w="12700">
            <a:solidFill>
              <a:srgbClr val="CBEF4F"/>
            </a:solidFill>
            <a:prstDash val="solid"/>
          </a:ln>
        </p:spPr>
      </p:sp>
      <p:sp>
        <p:nvSpPr>
          <p:cNvPr id="12" name="Shape 10"/>
          <p:cNvSpPr/>
          <p:nvPr/>
        </p:nvSpPr>
        <p:spPr>
          <a:xfrm>
            <a:off x="10310774" y="2028596"/>
            <a:ext cx="409651" cy="409651"/>
          </a:xfrm>
          <a:prstGeom prst="ellipse">
            <a:avLst/>
          </a:prstGeom>
          <a:solidFill>
            <a:srgbClr val="CBEF4F"/>
          </a:solidFill>
          <a:ln w="12700">
            <a:solidFill>
              <a:srgbClr val="CBEF4F"/>
            </a:solidFill>
            <a:prstDash val="solid"/>
          </a:ln>
        </p:spPr>
      </p:sp>
      <p:sp>
        <p:nvSpPr>
          <p:cNvPr id="13" name="Shape 11"/>
          <p:cNvSpPr/>
          <p:nvPr/>
        </p:nvSpPr>
        <p:spPr>
          <a:xfrm>
            <a:off x="7766456" y="2844698"/>
            <a:ext cx="409651" cy="409651"/>
          </a:xfrm>
          <a:prstGeom prst="ellipse">
            <a:avLst/>
          </a:prstGeom>
          <a:solidFill>
            <a:srgbClr val="CBEF4F"/>
          </a:solidFill>
          <a:ln w="12700">
            <a:solidFill>
              <a:srgbClr val="CBEF4F"/>
            </a:solidFill>
            <a:prstDash val="solid"/>
          </a:ln>
        </p:spPr>
      </p:sp>
      <p:sp>
        <p:nvSpPr>
          <p:cNvPr id="14" name="Shape 12"/>
          <p:cNvSpPr/>
          <p:nvPr/>
        </p:nvSpPr>
        <p:spPr>
          <a:xfrm>
            <a:off x="8940546" y="2866644"/>
            <a:ext cx="365760" cy="365760"/>
          </a:xfrm>
          <a:prstGeom prst="ellipse">
            <a:avLst/>
          </a:prstGeom>
          <a:solidFill>
            <a:srgbClr val="41306B"/>
          </a:solidFill>
          <a:ln w="12700">
            <a:solidFill>
              <a:srgbClr val="41306B"/>
            </a:solidFill>
            <a:prstDash val="solid"/>
          </a:ln>
        </p:spPr>
      </p:sp>
      <p:sp>
        <p:nvSpPr>
          <p:cNvPr id="15" name="Shape 13"/>
          <p:cNvSpPr/>
          <p:nvPr/>
        </p:nvSpPr>
        <p:spPr>
          <a:xfrm>
            <a:off x="10886846" y="2844698"/>
            <a:ext cx="409651" cy="409651"/>
          </a:xfrm>
          <a:prstGeom prst="ellipse">
            <a:avLst/>
          </a:prstGeom>
          <a:solidFill>
            <a:srgbClr val="CBEF4F"/>
          </a:solidFill>
          <a:ln w="12700">
            <a:solidFill>
              <a:srgbClr val="CBEF4F"/>
            </a:solidFill>
            <a:prstDash val="solid"/>
          </a:ln>
        </p:spPr>
      </p:sp>
      <p:sp>
        <p:nvSpPr>
          <p:cNvPr id="16" name="Shape 14"/>
          <p:cNvSpPr/>
          <p:nvPr/>
        </p:nvSpPr>
        <p:spPr>
          <a:xfrm>
            <a:off x="7430414" y="3660800"/>
            <a:ext cx="409651" cy="409651"/>
          </a:xfrm>
          <a:prstGeom prst="ellipse">
            <a:avLst/>
          </a:prstGeom>
          <a:solidFill>
            <a:srgbClr val="CBEF4F"/>
          </a:solidFill>
          <a:ln w="12700">
            <a:solidFill>
              <a:srgbClr val="CBEF4F"/>
            </a:solidFill>
            <a:prstDash val="solid"/>
          </a:ln>
        </p:spPr>
      </p:sp>
      <p:sp>
        <p:nvSpPr>
          <p:cNvPr id="17" name="Shape 15"/>
          <p:cNvSpPr/>
          <p:nvPr/>
        </p:nvSpPr>
        <p:spPr>
          <a:xfrm>
            <a:off x="11318900" y="3660800"/>
            <a:ext cx="409651" cy="409651"/>
          </a:xfrm>
          <a:prstGeom prst="ellipse">
            <a:avLst/>
          </a:prstGeom>
          <a:solidFill>
            <a:srgbClr val="CBEF4F"/>
          </a:solidFill>
          <a:ln w="12700">
            <a:solidFill>
              <a:srgbClr val="CBEF4F"/>
            </a:solidFill>
            <a:prstDash val="solid"/>
          </a:ln>
        </p:spPr>
      </p:sp>
      <p:sp>
        <p:nvSpPr>
          <p:cNvPr id="18" name="Shape 16"/>
          <p:cNvSpPr/>
          <p:nvPr/>
        </p:nvSpPr>
        <p:spPr>
          <a:xfrm>
            <a:off x="9852660" y="2866644"/>
            <a:ext cx="365760" cy="365760"/>
          </a:xfrm>
          <a:prstGeom prst="ellipse">
            <a:avLst/>
          </a:prstGeom>
          <a:solidFill>
            <a:srgbClr val="41306B"/>
          </a:solidFill>
          <a:ln w="12700">
            <a:solidFill>
              <a:srgbClr val="41306B"/>
            </a:solidFill>
            <a:prstDash val="solid"/>
          </a:ln>
        </p:spPr>
      </p:sp>
      <p:sp>
        <p:nvSpPr>
          <p:cNvPr id="19" name="Text 17"/>
          <p:cNvSpPr/>
          <p:nvPr/>
        </p:nvSpPr>
        <p:spPr>
          <a:xfrm>
            <a:off x="822960" y="2148840"/>
            <a:ext cx="640080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20" name="Text 18"/>
          <p:cNvSpPr/>
          <p:nvPr/>
        </p:nvSpPr>
        <p:spPr>
          <a:xfrm>
            <a:off x="822960" y="3218688"/>
            <a:ext cx="5943600" cy="365760"/>
          </a:xfrm>
          <a:prstGeom prst="rect">
            <a:avLst/>
          </a:prstGeom>
          <a:noFill/>
          <a:ln/>
        </p:spPr>
        <p:txBody>
          <a:bodyPr wrap="square" lIns="0" tIns="0" rIns="0" bIns="0" rtlCol="0" anchor="ctr"/>
          <a:lstStyle/>
          <a:p>
            <a:pPr indent="0" marL="0">
              <a:buNone/>
            </a:pPr>
            <a:r>
              <a:rPr lang="en-US" sz="1600" i="1" dirty="0">
                <a:solidFill>
                  <a:srgbClr val="C7B4F0"/>
                </a:solidFill>
                <a:latin typeface="Calibri" pitchFamily="34" charset="0"/>
                <a:ea typeface="Calibri" pitchFamily="34" charset="-122"/>
                <a:cs typeface="Calibri" pitchFamily="34" charset="-120"/>
              </a:rPr>
              <a:t>Questions and suggestions are welcome.</a:t>
            </a:r>
            <a:endParaRPr lang="en-US" sz="1600" dirty="0"/>
          </a:p>
        </p:txBody>
      </p:sp>
      <p:sp>
        <p:nvSpPr>
          <p:cNvPr id="21" name="Text 19"/>
          <p:cNvSpPr/>
          <p:nvPr/>
        </p:nvSpPr>
        <p:spPr>
          <a:xfrm>
            <a:off x="822960" y="4041648"/>
            <a:ext cx="5943600" cy="292608"/>
          </a:xfrm>
          <a:prstGeom prst="rect">
            <a:avLst/>
          </a:prstGeom>
          <a:noFill/>
          <a:ln/>
        </p:spPr>
        <p:txBody>
          <a:bodyPr wrap="square" lIns="0" tIns="0" rIns="0" bIns="0" rtlCol="0" anchor="ctr"/>
          <a:lstStyle/>
          <a:p>
            <a:pPr indent="0" marL="0">
              <a:buNone/>
            </a:pPr>
            <a:r>
              <a:rPr lang="en-US" sz="1400" b="1" dirty="0">
                <a:solidFill>
                  <a:srgbClr val="C3B5DD"/>
                </a:solidFill>
                <a:latin typeface="Calibri" pitchFamily="34" charset="0"/>
                <a:ea typeface="Calibri" pitchFamily="34" charset="-122"/>
                <a:cs typeface="Calibri" pitchFamily="34" charset="-120"/>
              </a:rPr>
              <a:t>Pranitha M.  ·  Angela  ·  Harshika</a:t>
            </a:r>
            <a:endParaRPr lang="en-US" sz="1400" dirty="0"/>
          </a:p>
        </p:txBody>
      </p:sp>
      <p:sp>
        <p:nvSpPr>
          <p:cNvPr id="22" name="Text 20"/>
          <p:cNvSpPr/>
          <p:nvPr/>
        </p:nvSpPr>
        <p:spPr>
          <a:xfrm>
            <a:off x="822960" y="4352544"/>
            <a:ext cx="5943600" cy="292608"/>
          </a:xfrm>
          <a:prstGeom prst="rect">
            <a:avLst/>
          </a:prstGeom>
          <a:noFill/>
          <a:ln/>
        </p:spPr>
        <p:txBody>
          <a:bodyPr wrap="square" lIns="0" tIns="0" rIns="0" bIns="0" rtlCol="0" anchor="ctr"/>
          <a:lstStyle/>
          <a:p>
            <a:pPr indent="0" marL="0">
              <a:buNone/>
            </a:pPr>
            <a:r>
              <a:rPr lang="en-US" sz="1300" dirty="0">
                <a:solidFill>
                  <a:srgbClr val="8B7BA8"/>
                </a:solidFill>
                <a:latin typeface="Calibri" pitchFamily="34" charset="0"/>
                <a:ea typeface="Calibri" pitchFamily="34" charset="-122"/>
                <a:cs typeface="Calibri" pitchFamily="34" charset="-120"/>
              </a:rPr>
              <a:t>Guided by Dr. J Sirisha Devi</a:t>
            </a:r>
            <a:endParaRPr lang="en-US" sz="1300" dirty="0"/>
          </a:p>
        </p:txBody>
      </p:sp>
      <p:sp>
        <p:nvSpPr>
          <p:cNvPr id="23" name="Text 21"/>
          <p:cNvSpPr/>
          <p:nvPr/>
        </p:nvSpPr>
        <p:spPr>
          <a:xfrm>
            <a:off x="822960" y="4956048"/>
            <a:ext cx="5943600" cy="274320"/>
          </a:xfrm>
          <a:prstGeom prst="rect">
            <a:avLst/>
          </a:prstGeom>
          <a:noFill/>
          <a:ln/>
        </p:spPr>
        <p:txBody>
          <a:bodyPr wrap="square" lIns="0" tIns="0" rIns="0" bIns="0" rtlCol="0" anchor="ctr"/>
          <a:lstStyle/>
          <a:p>
            <a:pPr indent="0" marL="0">
              <a:buNone/>
            </a:pPr>
            <a:r>
              <a:rPr lang="en-US" sz="1100" spc="180" kern="0" dirty="0">
                <a:solidFill>
                  <a:srgbClr val="CBEF4F"/>
                </a:solidFill>
                <a:latin typeface="Calibri" pitchFamily="34" charset="0"/>
                <a:ea typeface="Calibri" pitchFamily="34" charset="-122"/>
                <a:cs typeface="Calibri" pitchFamily="34" charset="-120"/>
              </a:rPr>
              <a:t>Tree Diameter Computation &amp; Visualization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2026-08-19T13:40:20Z</dcterms:created>
  <dcterms:modified xsi:type="dcterms:W3CDTF">2026-08-19T13:40:20Z</dcterms:modified>
</cp:coreProperties>
</file>